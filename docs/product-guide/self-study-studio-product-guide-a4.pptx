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a476fcdc0e4b40" /><Relationship Type="http://schemas.openxmlformats.org/officeDocument/2006/relationships/extended-properties" Target="/docProps/app.xml" Id="R7a3dee95e07f4584" /><Relationship Type="http://schemas.openxmlformats.org/officeDocument/2006/relationships/officeDocument" Target="/ppt/presentation.xml" Id="R552a5975f4cb48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7b66949cdd43b4"/>
  </p:sldMasterIdLst>
  <p:notesMasterIdLst>
    <p:notesMasterId xmlns:r="http://schemas.openxmlformats.org/officeDocument/2006/relationships" r:id="R7c484c9bed504d84"/>
  </p:notesMasterIdLst>
  <p:sldIdLst>
    <p:sldId xmlns:r="http://schemas.openxmlformats.org/officeDocument/2006/relationships" id="256" r:id="R38d358c5954e4bff"/>
    <p:sldId xmlns:r="http://schemas.openxmlformats.org/officeDocument/2006/relationships" id="257" r:id="R1a9bc8b3a0b64e8e"/>
    <p:sldId xmlns:r="http://schemas.openxmlformats.org/officeDocument/2006/relationships" id="258" r:id="R3e5b4ec290b94348"/>
    <p:sldId xmlns:r="http://schemas.openxmlformats.org/officeDocument/2006/relationships" id="259" r:id="Rdf55d37f374c4bb9"/>
    <p:sldId xmlns:r="http://schemas.openxmlformats.org/officeDocument/2006/relationships" id="260" r:id="R59af33efd0654d41"/>
    <p:sldId xmlns:r="http://schemas.openxmlformats.org/officeDocument/2006/relationships" id="261" r:id="R61581313c8854d2a"/>
    <p:sldId xmlns:r="http://schemas.openxmlformats.org/officeDocument/2006/relationships" id="262" r:id="Rfc1863e548ab4397"/>
    <p:sldId xmlns:r="http://schemas.openxmlformats.org/officeDocument/2006/relationships" id="263" r:id="R962ce922715c447a"/>
    <p:sldId xmlns:r="http://schemas.openxmlformats.org/officeDocument/2006/relationships" id="264" r:id="R12797ca953c1456d"/>
    <p:sldId xmlns:r="http://schemas.openxmlformats.org/officeDocument/2006/relationships" id="265" r:id="Rf35558ca33d049c6"/>
    <p:sldId xmlns:r="http://schemas.openxmlformats.org/officeDocument/2006/relationships" id="266" r:id="Rf3f92dcd81c9440a"/>
    <p:sldId xmlns:r="http://schemas.openxmlformats.org/officeDocument/2006/relationships" id="267" r:id="R4527b827b6484094"/>
    <p:sldId xmlns:r="http://schemas.openxmlformats.org/officeDocument/2006/relationships" id="268" r:id="Rd6a80060e1fd4783"/>
    <p:sldId xmlns:r="http://schemas.openxmlformats.org/officeDocument/2006/relationships" id="269" r:id="R02e153d34093416f"/>
    <p:sldId xmlns:r="http://schemas.openxmlformats.org/officeDocument/2006/relationships" id="270" r:id="R3e46304d84204bfe"/>
    <p:sldId xmlns:r="http://schemas.openxmlformats.org/officeDocument/2006/relationships" id="271" r:id="R1ba91c09968a48b9"/>
    <p:sldId xmlns:r="http://schemas.openxmlformats.org/officeDocument/2006/relationships" id="272" r:id="Ref88d4494c3a490d"/>
    <p:sldId xmlns:r="http://schemas.openxmlformats.org/officeDocument/2006/relationships" id="273" r:id="R6111773fbd8d443f"/>
    <p:sldId xmlns:r="http://schemas.openxmlformats.org/officeDocument/2006/relationships" id="274" r:id="R786aab24400a480f"/>
    <p:sldId xmlns:r="http://schemas.openxmlformats.org/officeDocument/2006/relationships" id="275" r:id="R3c6fccf454cd46e1"/>
    <p:sldId xmlns:r="http://schemas.openxmlformats.org/officeDocument/2006/relationships" id="276" r:id="R0e64208136424248"/>
    <p:sldId xmlns:r="http://schemas.openxmlformats.org/officeDocument/2006/relationships" id="277" r:id="Rb2980077b9414e57"/>
    <p:sldId xmlns:r="http://schemas.openxmlformats.org/officeDocument/2006/relationships" id="278" r:id="Rc13fadb7d8534bc8"/>
    <p:sldId xmlns:r="http://schemas.openxmlformats.org/officeDocument/2006/relationships" id="279" r:id="R477ecc515f844944"/>
    <p:sldId xmlns:r="http://schemas.openxmlformats.org/officeDocument/2006/relationships" id="280" r:id="R1514ac2163e04072"/>
    <p:sldId xmlns:r="http://schemas.openxmlformats.org/officeDocument/2006/relationships" id="281" r:id="R2d1c56e8456848cb"/>
    <p:sldId xmlns:r="http://schemas.openxmlformats.org/officeDocument/2006/relationships" id="282" r:id="R1d9ce0b4bab849f8"/>
    <p:sldId xmlns:r="http://schemas.openxmlformats.org/officeDocument/2006/relationships" id="283" r:id="R01833f425377452a"/>
  </p:sldIdLst>
  <p:sldSz cx="7562850" cy="10696575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242c35d5b74e4e" /><Relationship Type="http://schemas.openxmlformats.org/officeDocument/2006/relationships/slideMaster" Target="/ppt/slideMasters/slideMaster1.xml" Id="Re97b66949cdd43b4" /><Relationship Type="http://schemas.openxmlformats.org/officeDocument/2006/relationships/notesMaster" Target="/ppt/notesMasters/notesMaster1.xml" Id="R7c484c9bed504d84" /><Relationship Type="http://schemas.openxmlformats.org/officeDocument/2006/relationships/presProps" Target="/ppt/presProps.xml" Id="R59a9bebd7e644c09" /><Relationship Type="http://schemas.openxmlformats.org/officeDocument/2006/relationships/tableStyles" Target="/ppt/tableStyles.xml" Id="Rfeca6df999794bcb" /><Relationship Type="http://schemas.openxmlformats.org/officeDocument/2006/relationships/slide" Target="/ppt/slides/slide1.xml" Id="R38d358c5954e4bff" /><Relationship Type="http://schemas.openxmlformats.org/officeDocument/2006/relationships/slide" Target="/ppt/slides/slide2.xml" Id="R1a9bc8b3a0b64e8e" /><Relationship Type="http://schemas.openxmlformats.org/officeDocument/2006/relationships/slide" Target="/ppt/slides/slide3.xml" Id="R3e5b4ec290b94348" /><Relationship Type="http://schemas.openxmlformats.org/officeDocument/2006/relationships/slide" Target="/ppt/slides/slide4.xml" Id="Rdf55d37f374c4bb9" /><Relationship Type="http://schemas.openxmlformats.org/officeDocument/2006/relationships/slide" Target="/ppt/slides/slide5.xml" Id="R59af33efd0654d41" /><Relationship Type="http://schemas.openxmlformats.org/officeDocument/2006/relationships/slide" Target="/ppt/slides/slide6.xml" Id="R61581313c8854d2a" /><Relationship Type="http://schemas.openxmlformats.org/officeDocument/2006/relationships/slide" Target="/ppt/slides/slide7.xml" Id="Rfc1863e548ab4397" /><Relationship Type="http://schemas.openxmlformats.org/officeDocument/2006/relationships/slide" Target="/ppt/slides/slide8.xml" Id="R962ce922715c447a" /><Relationship Type="http://schemas.openxmlformats.org/officeDocument/2006/relationships/slide" Target="/ppt/slides/slide9.xml" Id="R12797ca953c1456d" /><Relationship Type="http://schemas.openxmlformats.org/officeDocument/2006/relationships/slide" Target="/ppt/slides/slide10.xml" Id="Rf35558ca33d049c6" /><Relationship Type="http://schemas.openxmlformats.org/officeDocument/2006/relationships/slide" Target="/ppt/slides/slide11.xml" Id="Rf3f92dcd81c9440a" /><Relationship Type="http://schemas.openxmlformats.org/officeDocument/2006/relationships/slide" Target="/ppt/slides/slide12.xml" Id="R4527b827b6484094" /><Relationship Type="http://schemas.openxmlformats.org/officeDocument/2006/relationships/slide" Target="/ppt/slides/slide13.xml" Id="Rd6a80060e1fd4783" /><Relationship Type="http://schemas.openxmlformats.org/officeDocument/2006/relationships/slide" Target="/ppt/slides/slide14.xml" Id="R02e153d34093416f" /><Relationship Type="http://schemas.openxmlformats.org/officeDocument/2006/relationships/slide" Target="/ppt/slides/slide15.xml" Id="R3e46304d84204bfe" /><Relationship Type="http://schemas.openxmlformats.org/officeDocument/2006/relationships/slide" Target="/ppt/slides/slide16.xml" Id="R1ba91c09968a48b9" /><Relationship Type="http://schemas.openxmlformats.org/officeDocument/2006/relationships/slide" Target="/ppt/slides/slide17.xml" Id="Ref88d4494c3a490d" /><Relationship Type="http://schemas.openxmlformats.org/officeDocument/2006/relationships/slide" Target="/ppt/slides/slide18.xml" Id="R6111773fbd8d443f" /><Relationship Type="http://schemas.openxmlformats.org/officeDocument/2006/relationships/slide" Target="/ppt/slides/slide19.xml" Id="R786aab24400a480f" /><Relationship Type="http://schemas.openxmlformats.org/officeDocument/2006/relationships/slide" Target="/ppt/slides/slide20.xml" Id="R3c6fccf454cd46e1" /><Relationship Type="http://schemas.openxmlformats.org/officeDocument/2006/relationships/slide" Target="/ppt/slides/slide21.xml" Id="R0e64208136424248" /><Relationship Type="http://schemas.openxmlformats.org/officeDocument/2006/relationships/slide" Target="/ppt/slides/slide22.xml" Id="Rb2980077b9414e57" /><Relationship Type="http://schemas.openxmlformats.org/officeDocument/2006/relationships/slide" Target="/ppt/slides/slide23.xml" Id="Rc13fadb7d8534bc8" /><Relationship Type="http://schemas.openxmlformats.org/officeDocument/2006/relationships/slide" Target="/ppt/slides/slide24.xml" Id="R477ecc515f844944" /><Relationship Type="http://schemas.openxmlformats.org/officeDocument/2006/relationships/slide" Target="/ppt/slides/slide25.xml" Id="R1514ac2163e04072" /><Relationship Type="http://schemas.openxmlformats.org/officeDocument/2006/relationships/slide" Target="/ppt/slides/slide26.xml" Id="R2d1c56e8456848cb" /><Relationship Type="http://schemas.openxmlformats.org/officeDocument/2006/relationships/slide" Target="/ppt/slides/slide27.xml" Id="R1d9ce0b4bab849f8" /><Relationship Type="http://schemas.openxmlformats.org/officeDocument/2006/relationships/slide" Target="/ppt/slides/slide28.xml" Id="R01833f42537745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393a505d0542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6f1da6554a47d8" /><Relationship Type="http://schemas.openxmlformats.org/officeDocument/2006/relationships/notesMaster" Target="/ppt/notesMasters/notesMaster1.xml" Id="Re3a063c76c8b4c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facdeca32d413e" /><Relationship Type="http://schemas.openxmlformats.org/officeDocument/2006/relationships/notesMaster" Target="/ppt/notesMasters/notesMaster1.xml" Id="Re958f42849ef42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3a54f5edae46e1" /><Relationship Type="http://schemas.openxmlformats.org/officeDocument/2006/relationships/notesMaster" Target="/ppt/notesMasters/notesMaster1.xml" Id="R4a15bd6d744d476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2566a174ce443a" /><Relationship Type="http://schemas.openxmlformats.org/officeDocument/2006/relationships/notesMaster" Target="/ppt/notesMasters/notesMaster1.xml" Id="R500061589b3942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4c60ee1c5e45e1" /><Relationship Type="http://schemas.openxmlformats.org/officeDocument/2006/relationships/notesMaster" Target="/ppt/notesMasters/notesMaster1.xml" Id="R4b06237c8aeb43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19391954824547" /><Relationship Type="http://schemas.openxmlformats.org/officeDocument/2006/relationships/notesMaster" Target="/ppt/notesMasters/notesMaster1.xml" Id="R8be45fed8b494e3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7aa95d5d0b4bf0" /><Relationship Type="http://schemas.openxmlformats.org/officeDocument/2006/relationships/notesMaster" Target="/ppt/notesMasters/notesMaster1.xml" Id="R3ffbe1182f4b4c7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8ee3ac2237342ab" /><Relationship Type="http://schemas.openxmlformats.org/officeDocument/2006/relationships/notesMaster" Target="/ppt/notesMasters/notesMaster1.xml" Id="R66d3b4ebcaf74c0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c7e1c2a33c749fb" /><Relationship Type="http://schemas.openxmlformats.org/officeDocument/2006/relationships/notesMaster" Target="/ppt/notesMasters/notesMaster1.xml" Id="R95e179517ae8459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d2905c27db54f19" /><Relationship Type="http://schemas.openxmlformats.org/officeDocument/2006/relationships/notesMaster" Target="/ppt/notesMasters/notesMaster1.xml" Id="R4596e0aa56db478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3c6f6b26961494b" /><Relationship Type="http://schemas.openxmlformats.org/officeDocument/2006/relationships/notesMaster" Target="/ppt/notesMasters/notesMaster1.xml" Id="Rb5427c38c48a4c4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023c7e6db184282" /><Relationship Type="http://schemas.openxmlformats.org/officeDocument/2006/relationships/notesMaster" Target="/ppt/notesMasters/notesMaster1.xml" Id="R23096ec71db047a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d93584cbe4a4c63" /><Relationship Type="http://schemas.openxmlformats.org/officeDocument/2006/relationships/notesMaster" Target="/ppt/notesMasters/notesMaster1.xml" Id="R49f6d234df764c2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75e3cbbd12e4b37" /><Relationship Type="http://schemas.openxmlformats.org/officeDocument/2006/relationships/notesMaster" Target="/ppt/notesMasters/notesMaster1.xml" Id="Rdb1cddaf9d5f4b5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86a17903b4f4d2f" /><Relationship Type="http://schemas.openxmlformats.org/officeDocument/2006/relationships/notesMaster" Target="/ppt/notesMasters/notesMaster1.xml" Id="Rbdba43e0ef8147b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64d5db9e10c44bf" /><Relationship Type="http://schemas.openxmlformats.org/officeDocument/2006/relationships/notesMaster" Target="/ppt/notesMasters/notesMaster1.xml" Id="R3892ba0e07d445a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018e20ec02f4ca4" /><Relationship Type="http://schemas.openxmlformats.org/officeDocument/2006/relationships/notesMaster" Target="/ppt/notesMasters/notesMaster1.xml" Id="R342d7fd10452434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02efefe786f4336" /><Relationship Type="http://schemas.openxmlformats.org/officeDocument/2006/relationships/notesMaster" Target="/ppt/notesMasters/notesMaster1.xml" Id="Re276ea73c65149d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1ac7b4be9a44f0d" /><Relationship Type="http://schemas.openxmlformats.org/officeDocument/2006/relationships/notesMaster" Target="/ppt/notesMasters/notesMaster1.xml" Id="Rbb41cb9749cf423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7c8e14b06bc415e" /><Relationship Type="http://schemas.openxmlformats.org/officeDocument/2006/relationships/notesMaster" Target="/ppt/notesMasters/notesMaster1.xml" Id="Rbc463b7dd0d0441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d5d8b2af54e40b6" /><Relationship Type="http://schemas.openxmlformats.org/officeDocument/2006/relationships/notesMaster" Target="/ppt/notesMasters/notesMaster1.xml" Id="R14f74ec50fc743a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622c8420f404a1a" /><Relationship Type="http://schemas.openxmlformats.org/officeDocument/2006/relationships/notesMaster" Target="/ppt/notesMasters/notesMaster1.xml" Id="Ref919886b825431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0df5e4bba474920" /><Relationship Type="http://schemas.openxmlformats.org/officeDocument/2006/relationships/notesMaster" Target="/ppt/notesMasters/notesMaster1.xml" Id="R54da296530a2462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05d5334f587434d" /><Relationship Type="http://schemas.openxmlformats.org/officeDocument/2006/relationships/notesMaster" Target="/ppt/notesMasters/notesMaster1.xml" Id="Rc7d52adaedf141f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96a87f503524aa6" /><Relationship Type="http://schemas.openxmlformats.org/officeDocument/2006/relationships/notesMaster" Target="/ppt/notesMasters/notesMaster1.xml" Id="Radecb8408c64430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eb45e43311942ab" /><Relationship Type="http://schemas.openxmlformats.org/officeDocument/2006/relationships/notesMaster" Target="/ppt/notesMasters/notesMaster1.xml" Id="Re730ff631015454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f45a22f04044d00" /><Relationship Type="http://schemas.openxmlformats.org/officeDocument/2006/relationships/notesMaster" Target="/ppt/notesMasters/notesMaster1.xml" Id="R1c9acc7a0dc041b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900c3e806b94df8" /><Relationship Type="http://schemas.openxmlformats.org/officeDocument/2006/relationships/notesMaster" Target="/ppt/notesMasters/notesMaster1.xml" Id="R5f3c6250339948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c9e06b6a924a9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f4442c4ae84e66" /><Relationship Type="http://schemas.openxmlformats.org/officeDocument/2006/relationships/slideLayout" Target="/ppt/slideLayouts/slideLayout1.xml" Id="Rebc24b8d4dc547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c24b8d4dc547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169f5450547d2" /><Relationship Type="http://schemas.openxmlformats.org/officeDocument/2006/relationships/notesSlide" Target="/ppt/notesSlides/notesSlide1.xml" Id="R651e6a2ea1ac43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6c8be7b68a4da1" /><Relationship Type="http://schemas.openxmlformats.org/officeDocument/2006/relationships/notesSlide" Target="/ppt/notesSlides/notesSlide2.xml" Id="Ra04a14e02d884f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a48787bd364fd5" /><Relationship Type="http://schemas.openxmlformats.org/officeDocument/2006/relationships/notesSlide" Target="/ppt/notesSlides/notesSlide3.xml" Id="R0923068fb77b42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ee906295a4fa5" /><Relationship Type="http://schemas.openxmlformats.org/officeDocument/2006/relationships/image" Target="/ppt/media/image.png" Id="Ra34aa722996d44c0" /><Relationship Type="http://schemas.openxmlformats.org/officeDocument/2006/relationships/notesSlide" Target="/ppt/notesSlides/notesSlide4.xml" Id="R9582528d32ea4c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ec4e804379436e" /><Relationship Type="http://schemas.openxmlformats.org/officeDocument/2006/relationships/notesSlide" Target="/ppt/notesSlides/notesSlide5.xml" Id="R4c6c878b1b5f49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e7b7ee44d54f59" /><Relationship Type="http://schemas.openxmlformats.org/officeDocument/2006/relationships/notesSlide" Target="/ppt/notesSlides/notesSlide6.xml" Id="Rb6e2f07f0b8547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9491fd4c54c01" /><Relationship Type="http://schemas.openxmlformats.org/officeDocument/2006/relationships/image" Target="/ppt/media/image2.png" Id="R8bec7d3b2c15479a" /><Relationship Type="http://schemas.openxmlformats.org/officeDocument/2006/relationships/notesSlide" Target="/ppt/notesSlides/notesSlide7.xml" Id="R7cb9cd0161da45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1b3082d2c480e" /><Relationship Type="http://schemas.openxmlformats.org/officeDocument/2006/relationships/image" Target="/ppt/media/image3.png" Id="R8033e4012e084bda" /><Relationship Type="http://schemas.openxmlformats.org/officeDocument/2006/relationships/notesSlide" Target="/ppt/notesSlides/notesSlide8.xml" Id="Rd347600be59c41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c0f148d75d4bfb" /><Relationship Type="http://schemas.openxmlformats.org/officeDocument/2006/relationships/image" Target="/ppt/media/image4.png" Id="R1e3e3c3aee6a4c1d" /><Relationship Type="http://schemas.openxmlformats.org/officeDocument/2006/relationships/notesSlide" Target="/ppt/notesSlides/notesSlide9.xml" Id="R984c232c6ee44af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80a674eb3d4048" /><Relationship Type="http://schemas.openxmlformats.org/officeDocument/2006/relationships/image" Target="/ppt/media/image5.png" Id="Rfff6ab42539a40a3" /><Relationship Type="http://schemas.openxmlformats.org/officeDocument/2006/relationships/notesSlide" Target="/ppt/notesSlides/notesSlide10.xml" Id="R32b11c0ba1e9476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2e348d7c141d0" /><Relationship Type="http://schemas.openxmlformats.org/officeDocument/2006/relationships/notesSlide" Target="/ppt/notesSlides/notesSlide11.xml" Id="R82ce3f4ca62948b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89ef235e824eaa" /><Relationship Type="http://schemas.openxmlformats.org/officeDocument/2006/relationships/image" Target="/ppt/media/image6.png" Id="R48bc4f09758e4467" /><Relationship Type="http://schemas.openxmlformats.org/officeDocument/2006/relationships/notesSlide" Target="/ppt/notesSlides/notesSlide12.xml" Id="R141bc2e72d45438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e25fe25c4d4aca" /><Relationship Type="http://schemas.openxmlformats.org/officeDocument/2006/relationships/image" Target="/ppt/media/image7.png" Id="Rc76642c9e9564558" /><Relationship Type="http://schemas.openxmlformats.org/officeDocument/2006/relationships/notesSlide" Target="/ppt/notesSlides/notesSlide13.xml" Id="R8cd863b5b4ec46a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acded8d8d84fd8" /><Relationship Type="http://schemas.openxmlformats.org/officeDocument/2006/relationships/image" Target="/ppt/media/image8.png" Id="Re4ebbb41b056491f" /><Relationship Type="http://schemas.openxmlformats.org/officeDocument/2006/relationships/notesSlide" Target="/ppt/notesSlides/notesSlide14.xml" Id="R669fa9b235754f8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c4b1ef02a34606" /><Relationship Type="http://schemas.openxmlformats.org/officeDocument/2006/relationships/image" Target="/ppt/media/image9.png" Id="Rbc397149633241b0" /><Relationship Type="http://schemas.openxmlformats.org/officeDocument/2006/relationships/notesSlide" Target="/ppt/notesSlides/notesSlide15.xml" Id="R3238c94e3c9c440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715dcc7984ce7" /><Relationship Type="http://schemas.openxmlformats.org/officeDocument/2006/relationships/image" Target="/ppt/media/image10.png" Id="R260b184f9a6f4573" /><Relationship Type="http://schemas.openxmlformats.org/officeDocument/2006/relationships/notesSlide" Target="/ppt/notesSlides/notesSlide16.xml" Id="R116f12fb919e469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bf21eb004c4fc4" /><Relationship Type="http://schemas.openxmlformats.org/officeDocument/2006/relationships/image" Target="/ppt/media/image11.png" Id="R691e1d3bd49a48ce" /><Relationship Type="http://schemas.openxmlformats.org/officeDocument/2006/relationships/notesSlide" Target="/ppt/notesSlides/notesSlide17.xml" Id="R53d9a2032e09435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c170cdeabe4608" /><Relationship Type="http://schemas.openxmlformats.org/officeDocument/2006/relationships/image" Target="/ppt/media/image12.png" Id="Raae4128d5b3f4c48" /><Relationship Type="http://schemas.openxmlformats.org/officeDocument/2006/relationships/notesSlide" Target="/ppt/notesSlides/notesSlide18.xml" Id="R8c1514059dc34ff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fda0f4fc74e9a" /><Relationship Type="http://schemas.openxmlformats.org/officeDocument/2006/relationships/image" Target="/ppt/media/image13.png" Id="Rf0c10e1cb6b7439f" /><Relationship Type="http://schemas.openxmlformats.org/officeDocument/2006/relationships/notesSlide" Target="/ppt/notesSlides/notesSlide19.xml" Id="Ref1204e394434cb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c07a2970de4bb6" /><Relationship Type="http://schemas.openxmlformats.org/officeDocument/2006/relationships/image" Target="/ppt/media/image14.png" Id="R5f3be3887f0b4471" /><Relationship Type="http://schemas.openxmlformats.org/officeDocument/2006/relationships/notesSlide" Target="/ppt/notesSlides/notesSlide20.xml" Id="Rfdae77f42fec4a3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3dd666fad4b0f" /><Relationship Type="http://schemas.openxmlformats.org/officeDocument/2006/relationships/image" Target="/ppt/media/image15.png" Id="R2875f67a5ef44f56" /><Relationship Type="http://schemas.openxmlformats.org/officeDocument/2006/relationships/notesSlide" Target="/ppt/notesSlides/notesSlide21.xml" Id="R8f3e9101dee24a2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4d80af389a44ce" /><Relationship Type="http://schemas.openxmlformats.org/officeDocument/2006/relationships/image" Target="/ppt/media/image16.png" Id="R4a9d5635bd9640d6" /><Relationship Type="http://schemas.openxmlformats.org/officeDocument/2006/relationships/notesSlide" Target="/ppt/notesSlides/notesSlide22.xml" Id="R690c60af3d0343b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c850c310804b3e" /><Relationship Type="http://schemas.openxmlformats.org/officeDocument/2006/relationships/image" Target="/ppt/media/image17.png" Id="R345d9db5ea544b0d" /><Relationship Type="http://schemas.openxmlformats.org/officeDocument/2006/relationships/notesSlide" Target="/ppt/notesSlides/notesSlide23.xml" Id="Rae51930906da4e0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afe7dfa6ac4537" /><Relationship Type="http://schemas.openxmlformats.org/officeDocument/2006/relationships/image" Target="/ppt/media/image18.png" Id="R9f94879a6c0f4544" /><Relationship Type="http://schemas.openxmlformats.org/officeDocument/2006/relationships/notesSlide" Target="/ppt/notesSlides/notesSlide24.xml" Id="Ra6a39dbe0219486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03da9a8c7d4cea" /><Relationship Type="http://schemas.openxmlformats.org/officeDocument/2006/relationships/notesSlide" Target="/ppt/notesSlides/notesSlide25.xml" Id="R86357287ea0e40a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622bd751d34ed2" /><Relationship Type="http://schemas.openxmlformats.org/officeDocument/2006/relationships/notesSlide" Target="/ppt/notesSlides/notesSlide26.xml" Id="R26b3c46720ae482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aebc5e4bf84f00" /><Relationship Type="http://schemas.openxmlformats.org/officeDocument/2006/relationships/notesSlide" Target="/ppt/notesSlides/notesSlide27.xml" Id="R95094d8167ad4e2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346c4a95054c1f" /><Relationship Type="http://schemas.openxmlformats.org/officeDocument/2006/relationships/notesSlide" Target="/ppt/notesSlides/notesSlide28.xml" Id="R98645f0e778940b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0161B3-8070-4051-AAC0-3AE5D2F8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6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7D9"/>
                </a:solidFill>
              </a:defRPr>
            </a:pPr>
            <a:r>
              <a:rPr sz="1200" b="1">
                <a:solidFill>
                  <a:srgbClr val="6657D9"/>
                </a:solidFill>
              </a:rPr>
              <a:t>SELF STUDY STUDIO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CF078C-F3D9-4FA9-95B9-C658FF06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33550"/>
            <a:ext cx="638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5242B"/>
                </a:solidFill>
              </a:defRPr>
            </a:pPr>
            <a:r>
              <a:rPr sz="3600" b="1">
                <a:solidFill>
                  <a:srgbClr val="25242B"/>
                </a:solidFill>
              </a:rPr>
              <a:t>产品功能手册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A7A126-FA57-4097-B137-EE240BB0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6F6C76"/>
                </a:solidFill>
              </a:defRPr>
            </a:pPr>
            <a:r>
              <a:rPr sz="1950" b="0">
                <a:solidFill>
                  <a:srgbClr val="6F6C76"/>
                </a:solidFill>
              </a:rPr>
              <a:t>行动 · 证据 · 复盘 · 下一步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4E81E1-6E16-4513-9437-A6D088F1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43350"/>
            <a:ext cx="6381750" cy="3105150"/>
          </a:xfrm>
          <a:prstGeom xmlns:a="http://schemas.openxmlformats.org/drawingml/2006/main" prst="roundRect">
            <a:avLst>
              <a:gd name="adj" fmla="val 3681"/>
            </a:avLst>
          </a:prstGeom>
          <a:solidFill xmlns:a="http://schemas.openxmlformats.org/drawingml/2006/main">
            <a:srgbClr val="E7E2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093AFC-A36C-46A0-A17E-CC396E81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362450"/>
            <a:ext cx="432435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Project</a:t>
            </a:r>
          </a:p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↓</a:t>
            </a:r>
          </a:p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Session</a:t>
            </a:r>
          </a:p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↓</a:t>
            </a:r>
          </a:p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Proof</a:t>
            </a:r>
          </a:p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↓</a:t>
            </a:r>
          </a:p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Review</a:t>
            </a:r>
          </a:p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↓</a:t>
            </a:r>
          </a:p>
          <a:p xmlns:a="http://schemas.openxmlformats.org/drawingml/2006/main">
            <a:pPr algn="ctr">
              <a:defRPr sz="2175" b="1">
                <a:solidFill>
                  <a:srgbClr val="6657D9"/>
                </a:solidFill>
              </a:defRPr>
            </a:pPr>
            <a:r>
              <a:rPr sz="2175" b="1">
                <a:solidFill>
                  <a:srgbClr val="6657D9"/>
                </a:solidFill>
              </a:rPr>
              <a:t>Next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2F8BC9-B4A0-4A5C-8E83-E0EAA583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91550"/>
            <a:ext cx="609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C76"/>
                </a:solidFill>
              </a:defRPr>
            </a:pPr>
            <a:r>
              <a:rPr sz="1275" b="0">
                <a:solidFill>
                  <a:srgbClr val="6F6C76"/>
                </a:solidFill>
              </a:rPr>
              <a:t>文档版本 1.0</a:t>
            </a:r>
          </a:p>
          <a:p xmlns:a="http://schemas.openxmlformats.org/drawingml/2006/main">
            <a:pPr algn="l">
              <a:defRPr sz="1275" b="0">
                <a:solidFill>
                  <a:srgbClr val="6F6C76"/>
                </a:solidFill>
              </a:defRPr>
            </a:pPr>
            <a:r>
              <a:rPr sz="1275" b="0">
                <a:solidFill>
                  <a:srgbClr val="6F6C76"/>
                </a:solidFill>
              </a:rPr>
              <a:t>最近核对 2026-07-13</a:t>
            </a:r>
          </a:p>
          <a:p xmlns:a="http://schemas.openxmlformats.org/drawingml/2006/main">
            <a:pPr algn="l">
              <a:defRPr sz="1275" b="0">
                <a:solidFill>
                  <a:srgbClr val="6F6C76"/>
                </a:solidFill>
              </a:defRPr>
            </a:pPr>
            <a:r>
              <a:rPr sz="1275" b="0">
                <a:solidFill>
                  <a:srgbClr val="6F6C76"/>
                </a:solidFill>
              </a:rPr>
              <a:t>commit a6c707e</a:t>
            </a:r>
          </a:p>
        </p:txBody>
      </p:sp>
    </p:spTree>
    <p:extLst>
      <p:ext uri="{BB962C8B-B14F-4D97-AF65-F5344CB8AC3E}">
        <p14:creationId xmlns:p14="http://schemas.microsoft.com/office/powerpoint/2010/main" val="9930264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A1CBB6-957A-45B8-837B-8AA0CAD20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READING GUIDE</a:t>
            </a:r>
          </a:p>
        </p:txBody>
      </p:sp>
      <p:sp>
        <p:nvSpPr>
          <p:cNvPr id="2" name="a4-title-2">
            <a:extLst xmlns:a="http://schemas.openxmlformats.org/drawingml/2006/main">
              <a:ext uri="{FF2B5EF4-FFF2-40B4-BE49-F238E27FC236}">
                <a16:creationId xmlns:a16="http://schemas.microsoft.com/office/drawing/2014/main" id="{AF2ABB1C-06BE-4F56-B6B7-F2BAF0BC6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如何阅读这份手册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B5323C-BF66-4FA1-ADE1-50A49D1BE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B6EB6C-C01C-44BF-AB37-8C777546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37E3B2-6475-4DA8-BCA0-60C89638D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635981-8C81-44F4-8D0D-AF8781AA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58483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242B"/>
                </a:solidFill>
              </a:defRPr>
            </a:pPr>
            <a:r>
              <a:rPr sz="1875" b="1">
                <a:solidFill>
                  <a:srgbClr val="25242B"/>
                </a:solidFill>
              </a:rPr>
              <a:t>先理解闭环，再按真实 Demo 顺序查看每个功能。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C4BD24-600B-4BE6-B8CA-E5F1727D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面向演示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DE5BF1-C837-4F2A-8FD9-47AC0015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590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第 3–24 页解释产品价值、流程与真实界面；第 25 页提供 5–10 分钟演示脚本。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C0A54D-3FD3-4258-BE17-47C07507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面向维护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182736-8B78-4AB1-819C-BE04A803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590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第 26–28 页记录功能状态、已知限制与更新规则。产品事实以 docs/PRODUCT_GUIDE.md 为权威来源。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694DB8-E524-4721-B131-22C0D8D0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8389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状态语言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9F9D29-3D49-4C71-8B63-A9C21574A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277100"/>
            <a:ext cx="5905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已实现：代码与验证证据存在。部分实现：主流程存在但仍有关键缺口。已设计：只有规格或计划。</a:t>
            </a:r>
          </a:p>
        </p:txBody>
      </p:sp>
    </p:spTree>
    <p:extLst>
      <p:ext uri="{BB962C8B-B14F-4D97-AF65-F5344CB8AC3E}">
        <p14:creationId xmlns:p14="http://schemas.microsoft.com/office/powerpoint/2010/main" val="17831925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86EBC4-B2C9-4345-A178-8EB1E727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POSITIONING</a:t>
            </a:r>
          </a:p>
        </p:txBody>
      </p:sp>
      <p:sp>
        <p:nvSpPr>
          <p:cNvPr id="2" name="a4-title-3">
            <a:extLst xmlns:a="http://schemas.openxmlformats.org/drawingml/2006/main">
              <a:ext uri="{FF2B5EF4-FFF2-40B4-BE49-F238E27FC236}">
                <a16:creationId xmlns:a16="http://schemas.microsoft.com/office/drawing/2014/main" id="{32C7B1A5-2085-46DA-B2F7-1E45C8CC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学习记录的目的，是决定下一步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FCF7F9-B1F6-45BF-8CAA-CF6B3DE0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EB88F-CD89-4115-93E9-66BA6BA1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4ACBB6-5F7F-4FAC-A140-D23C6416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EA3F8C-7496-46A9-85A9-D3DE3ABF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58483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242B"/>
                </a:solidFill>
              </a:defRPr>
            </a:pPr>
            <a:r>
              <a:rPr sz="1875" b="1">
                <a:solidFill>
                  <a:srgbClr val="25242B"/>
                </a:solidFill>
              </a:rPr>
              <a:t>一个帮助个人学习者把行动、证据和复盘串成下一步决定的本地优先学习日志。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CFBB8C-A3FC-429C-8A82-F5210E97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目标用户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612EA0-216C-49D2-8E9A-6ED079DD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590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同时推进多个自学项目、但不想被复杂知识管理系统拖慢的人。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63E37D-663F-4396-A24C-5CDAA860F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482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用户问题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B370FD-6FB0-47F3-BAC5-C6921E41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学习过程容易留下零散记录，却很难回答这周做了什么、证据是什么、接下来该做什么。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A559A4-3829-4D1F-9D52-FE08C23C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0294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产品承诺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86A265-F16C-4124-BEDE-3169F7E2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467600"/>
            <a:ext cx="590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用低摩擦 Session 记录行动，用 Proof 保存证据，再通过 Review 做出明确决定。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F80004-6B36-4CAD-8119-4056F3B7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9154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77932"/>
                </a:solidFill>
              </a:defRPr>
            </a:pPr>
            <a:r>
              <a:rPr sz="1575" b="1">
                <a:solidFill>
                  <a:srgbClr val="C77932"/>
                </a:solidFill>
              </a:rPr>
              <a:t>产品边界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3C61B7-7849-4D59-B3B8-4AB826592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353550"/>
            <a:ext cx="590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不是课程平台、社交社区、排行榜或自动替用户学习的 Agent。</a:t>
            </a:r>
          </a:p>
        </p:txBody>
      </p:sp>
    </p:spTree>
    <p:extLst>
      <p:ext uri="{BB962C8B-B14F-4D97-AF65-F5344CB8AC3E}">
        <p14:creationId xmlns:p14="http://schemas.microsoft.com/office/powerpoint/2010/main" val="15719426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353F77-36E2-4345-B6D5-9C29EAA4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CORE LOOP</a:t>
            </a:r>
          </a:p>
        </p:txBody>
      </p:sp>
      <p:sp>
        <p:nvSpPr>
          <p:cNvPr id="2" name="a4-title-4">
            <a:extLst xmlns:a="http://schemas.openxmlformats.org/drawingml/2006/main">
              <a:ext uri="{FF2B5EF4-FFF2-40B4-BE49-F238E27FC236}">
                <a16:creationId xmlns:a16="http://schemas.microsoft.com/office/drawing/2014/main" id="{B973F392-EC5C-46B4-B692-B39A887B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核心闭环从 Next Step 回到 Next Step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8F256C-89F2-4BB9-B299-85345AEE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D87060-7BBA-41E4-9FAC-8BF06A6E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624943-D14F-41B1-BBF4-4D1FBCB5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6457950" cy="781050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4aa722996d44c0"/>
          <a:stretch xmlns:a="http://schemas.openxmlformats.org/drawingml/2006/main"/>
        </p:blipFill>
        <p:spPr>
          <a:xfrm xmlns:a="http://schemas.openxmlformats.org/drawingml/2006/main">
            <a:off x="781050" y="4759462"/>
            <a:ext cx="6000750" cy="844276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883E88-E1EB-4929-A38B-73256D22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0"/>
            <a:ext cx="596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C76"/>
                </a:solidFill>
              </a:defRPr>
            </a:pPr>
            <a:r>
              <a:rPr sz="1275" b="0">
                <a:solidFill>
                  <a:srgbClr val="6F6C76"/>
                </a:solidFill>
              </a:rPr>
              <a:t>Quick Log 与 Timer 都生成 Session；Proof 与 Review 再把记录转化为下一步决定。</a:t>
            </a:r>
          </a:p>
        </p:txBody>
      </p:sp>
    </p:spTree>
    <p:extLst>
      <p:ext uri="{BB962C8B-B14F-4D97-AF65-F5344CB8AC3E}">
        <p14:creationId xmlns:p14="http://schemas.microsoft.com/office/powerpoint/2010/main" val="596667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E833B5-8DFD-4B14-A7D2-B6F06651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PRINCIPLES</a:t>
            </a:r>
          </a:p>
        </p:txBody>
      </p:sp>
      <p:sp>
        <p:nvSpPr>
          <p:cNvPr id="2" name="a4-title-5">
            <a:extLst xmlns:a="http://schemas.openxmlformats.org/drawingml/2006/main">
              <a:ext uri="{FF2B5EF4-FFF2-40B4-BE49-F238E27FC236}">
                <a16:creationId xmlns:a16="http://schemas.microsoft.com/office/drawing/2014/main" id="{F958EE48-2CB6-4500-AED3-2D543F2E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六条原则控制产品复杂度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9DE75-9EDA-4106-B9BE-47B96D89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DD57C5-1EE2-4DA6-A695-377AA891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2876E9-1A2B-4E6F-BB85-5EE261724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17FE90-CD80-4A32-B818-3C349B4B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58483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242B"/>
                </a:solidFill>
              </a:defRPr>
            </a:pPr>
            <a:r>
              <a:rPr sz="1875" b="1">
                <a:solidFill>
                  <a:srgbClr val="25242B"/>
                </a:solidFill>
              </a:rPr>
              <a:t>记录越轻，复盘越可信；自动化越靠后，用户控制越清楚。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806761-DD14-4598-9450-AFCE5A7C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记录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9A97EE-668D-4C45-B375-230A4404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手机优先；继续学习优先于整理；Quick Log 与 Timer 共享 Session 模型。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FF6BA3-B864-4A50-8B6C-5418D08E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证据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ED0C9F-18B2-4C84-8651-04D8B8CE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76900"/>
            <a:ext cx="590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Proof 比完成百分比更重要；附件必须解释“这证明了什么”。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712905-39CA-4F7D-A336-9C57C5EC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247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判断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AB5962-1F1C-4DAF-AF39-55F5A1A7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562850"/>
            <a:ext cx="590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日常记录与阶段判断分离；AI 不进入日常记录主流程。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30E968-E229-43B3-B84D-11BF54EE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0106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数据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6A4D82-9DA8-4EB8-8E24-5C7CB4CD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48800"/>
            <a:ext cx="590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本地优先，同时提供结构化记录与附件的完整导出。</a:t>
            </a:r>
          </a:p>
        </p:txBody>
      </p:sp>
    </p:spTree>
    <p:extLst>
      <p:ext uri="{BB962C8B-B14F-4D97-AF65-F5344CB8AC3E}">
        <p14:creationId xmlns:p14="http://schemas.microsoft.com/office/powerpoint/2010/main" val="3871768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302073-DE7F-4FBE-8746-E578A9FA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LANGUAGE</a:t>
            </a:r>
          </a:p>
        </p:txBody>
      </p:sp>
      <p:sp>
        <p:nvSpPr>
          <p:cNvPr id="2" name="a4-title-6">
            <a:extLst xmlns:a="http://schemas.openxmlformats.org/drawingml/2006/main">
              <a:ext uri="{FF2B5EF4-FFF2-40B4-BE49-F238E27FC236}">
                <a16:creationId xmlns:a16="http://schemas.microsoft.com/office/drawing/2014/main" id="{814ED10F-B2BA-41FA-9DC5-72E1424F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六个概念各自承担一种责任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910E4E-9645-44E8-9175-D29E1800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2C329D-F5AF-4FEF-BA42-3195C6C3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92618C-D4DC-4506-B98D-BBDAF283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47ADF3-DAE5-4D95-A3C5-3FB5808C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58483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242B"/>
                </a:solidFill>
              </a:defRPr>
            </a:pPr>
            <a:r>
              <a:rPr sz="1875" b="1">
                <a:solidFill>
                  <a:srgbClr val="25242B"/>
                </a:solidFill>
              </a:rPr>
              <a:t>稳定的产品语言让界面、数据和文档保持一致。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34ED0D-430A-4923-A98A-42A29066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Project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CE782-1E68-421E-9B93-A3DF28C6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590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一个持续学习目标及其当前状态。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001EC1-FA6D-4746-9AF2-30DE5E7E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Next Step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143D4B-4BBF-4F05-A425-BDE1B008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590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下一次打开 App 时可以直接执行的具体动作。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E45238-C627-4D8B-8E6B-1B738886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3436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Session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868194-902E-4203-93EB-45B78B97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781800"/>
            <a:ext cx="590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一次已发生的学习行动，由 Quick Log 或 Timer 生成。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0C146E-CE1D-4924-ABF1-7C15D2DD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8867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Proof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683F1A-3F04-4D9C-8D29-0519270A0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324850"/>
            <a:ext cx="590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带有“这证明了什么”说明的图片、录音、文件或链接。</a:t>
            </a:r>
          </a:p>
        </p:txBody>
      </p:sp>
    </p:spTree>
    <p:extLst>
      <p:ext uri="{BB962C8B-B14F-4D97-AF65-F5344CB8AC3E}">
        <p14:creationId xmlns:p14="http://schemas.microsoft.com/office/powerpoint/2010/main" val="1367580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CBD12F-F13A-4D7C-899C-3AF19103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INFORMATION ARCHITECTURE</a:t>
            </a:r>
          </a:p>
        </p:txBody>
      </p:sp>
      <p:sp>
        <p:nvSpPr>
          <p:cNvPr id="2" name="a4-title-7">
            <a:extLst xmlns:a="http://schemas.openxmlformats.org/drawingml/2006/main">
              <a:ext uri="{FF2B5EF4-FFF2-40B4-BE49-F238E27FC236}">
                <a16:creationId xmlns:a16="http://schemas.microsoft.com/office/drawing/2014/main" id="{AA763B2C-D3F7-4B41-AADA-574CB919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三个 Tab 覆盖当前产品范围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4B5E93-6E63-4994-9797-A476FB29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CC4A18-FD90-4094-8BAC-87802A2F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DDF8C5-6C9E-4911-AC90-0C001CE2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6457950" cy="781050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ec7d3b2c15479a"/>
          <a:stretch xmlns:a="http://schemas.openxmlformats.org/drawingml/2006/main"/>
        </p:blipFill>
        <p:spPr>
          <a:xfrm xmlns:a="http://schemas.openxmlformats.org/drawingml/2006/main">
            <a:off x="781050" y="3466504"/>
            <a:ext cx="6000750" cy="343019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BA2023-F901-4A5E-A057-45A51F39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0"/>
            <a:ext cx="596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C76"/>
                </a:solidFill>
              </a:defRPr>
            </a:pPr>
            <a:r>
              <a:rPr sz="1275" b="0">
                <a:solidFill>
                  <a:srgbClr val="6F6C76"/>
                </a:solidFill>
              </a:rPr>
              <a:t>Review 和 AI Settings 是条件性入口；Calendar、Course Plan、Cloud Sync 尚未进入导航。</a:t>
            </a:r>
          </a:p>
        </p:txBody>
      </p:sp>
    </p:spTree>
    <p:extLst>
      <p:ext uri="{BB962C8B-B14F-4D97-AF65-F5344CB8AC3E}">
        <p14:creationId xmlns:p14="http://schemas.microsoft.com/office/powerpoint/2010/main" val="20588356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8B8E75-910C-43DD-AF57-F7AC169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MODULES</a:t>
            </a:r>
          </a:p>
        </p:txBody>
      </p:sp>
      <p:sp>
        <p:nvSpPr>
          <p:cNvPr id="2" name="a4-title-8">
            <a:extLst xmlns:a="http://schemas.openxmlformats.org/drawingml/2006/main">
              <a:ext uri="{FF2B5EF4-FFF2-40B4-BE49-F238E27FC236}">
                <a16:creationId xmlns:a16="http://schemas.microsoft.com/office/drawing/2014/main" id="{2FF9710C-1BD1-4A0E-93A1-C9EFD4059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界面、业务规则与存储边界清晰分层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F78796-5AA6-4A07-BEF3-06E97338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8CD8D7-5808-4E7B-A761-815779BD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15E464-2D90-4C9D-8B74-E70E3622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6457950" cy="781050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33e4012e084bda"/>
          <a:stretch xmlns:a="http://schemas.openxmlformats.org/drawingml/2006/main"/>
        </p:blipFill>
        <p:spPr>
          <a:xfrm xmlns:a="http://schemas.openxmlformats.org/drawingml/2006/main">
            <a:off x="781050" y="3325964"/>
            <a:ext cx="6000750" cy="371127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1FC86-75FA-4929-BB4D-05354253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0"/>
            <a:ext cx="596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C76"/>
                </a:solidFill>
              </a:defRPr>
            </a:pPr>
            <a:r>
              <a:rPr sz="1275" b="0">
                <a:solidFill>
                  <a:srgbClr val="6F6C76"/>
                </a:solidFill>
              </a:rPr>
              <a:t>SwiftData 正常持久化；JSON Store 是初始化失败时的降级。</a:t>
            </a:r>
          </a:p>
        </p:txBody>
      </p:sp>
    </p:spTree>
    <p:extLst>
      <p:ext uri="{BB962C8B-B14F-4D97-AF65-F5344CB8AC3E}">
        <p14:creationId xmlns:p14="http://schemas.microsoft.com/office/powerpoint/2010/main" val="19652067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8748D0-DCF5-4DD0-A9E1-7A0F3450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ONBOARDING</a:t>
            </a:r>
          </a:p>
        </p:txBody>
      </p:sp>
      <p:sp>
        <p:nvSpPr>
          <p:cNvPr id="2" name="a4-title-9">
            <a:extLst xmlns:a="http://schemas.openxmlformats.org/drawingml/2006/main">
              <a:ext uri="{FF2B5EF4-FFF2-40B4-BE49-F238E27FC236}">
                <a16:creationId xmlns:a16="http://schemas.microsoft.com/office/drawing/2014/main" id="{EE65FBE4-DC0C-4F12-A0CF-1ED2B7B3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首次设置以第一条真实 Session 收尾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CE6EBC-FE8A-4F90-97AE-B21E27EF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82D5C-8706-4FC9-9216-3FF0F834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AE5FA6-E9C6-4A77-9F32-EFD21E1F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6457950" cy="781050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3e3c3aee6a4c1d"/>
          <a:stretch xmlns:a="http://schemas.openxmlformats.org/drawingml/2006/main"/>
        </p:blipFill>
        <p:spPr>
          <a:xfrm xmlns:a="http://schemas.openxmlformats.org/drawingml/2006/main">
            <a:off x="2317827" y="1847850"/>
            <a:ext cx="2927195" cy="666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2B7909-BED0-4566-9A0A-5450B286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0"/>
            <a:ext cx="596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C76"/>
                </a:solidFill>
              </a:defRPr>
            </a:pPr>
            <a:r>
              <a:rPr sz="1275" b="0">
                <a:solidFill>
                  <a:srgbClr val="6F6C76"/>
                </a:solidFill>
              </a:rPr>
              <a:t>名称、Goal、Next Step 必填；Area 可选；创建 1–3 个 Project 后完成首条 Quick Log。</a:t>
            </a:r>
          </a:p>
        </p:txBody>
      </p:sp>
    </p:spTree>
    <p:extLst>
      <p:ext uri="{BB962C8B-B14F-4D97-AF65-F5344CB8AC3E}">
        <p14:creationId xmlns:p14="http://schemas.microsoft.com/office/powerpoint/2010/main" val="995120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0CDCAE-24DC-4F6C-9F05-8CF1AC72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DEMO · TODAY</a:t>
            </a:r>
          </a:p>
        </p:txBody>
      </p:sp>
      <p:sp>
        <p:nvSpPr>
          <p:cNvPr id="2" name="a4-title-10">
            <a:extLst xmlns:a="http://schemas.openxmlformats.org/drawingml/2006/main">
              <a:ext uri="{FF2B5EF4-FFF2-40B4-BE49-F238E27FC236}">
                <a16:creationId xmlns:a16="http://schemas.microsoft.com/office/drawing/2014/main" id="{251B22B1-68F7-481E-999E-F23F1224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Today 把可执行的 Next Step 放在首页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B684C5-2097-43E4-AD4A-1F99CEBB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8B7794-6B8C-4715-AB11-085CD70F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157F75-62DB-4046-A7B1-58EA50DD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2971800" cy="7810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f6ab42539a40a3"/>
          <a:stretch xmlns:a="http://schemas.openxmlformats.org/drawingml/2006/main"/>
        </p:blipFill>
        <p:spPr>
          <a:xfrm xmlns:a="http://schemas.openxmlformats.org/drawingml/2006/main">
            <a:off x="762000" y="2730500"/>
            <a:ext cx="2552700" cy="5549900"/>
          </a:xfrm>
          <a:prstGeom xmlns:a="http://schemas.openxmlformats.org/drawingml/2006/main" prst="roundRect">
            <a:avLst>
              <a:gd name="adj" fmla="val 447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1C622F-5168-47F0-BEF9-174AEDE3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38350"/>
            <a:ext cx="571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808057-7EB0-40E6-B160-19370FF7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38350"/>
            <a:ext cx="2762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242B"/>
                </a:solidFill>
              </a:defRPr>
            </a:pPr>
            <a:r>
              <a:rPr sz="1800" b="1">
                <a:solidFill>
                  <a:srgbClr val="25242B"/>
                </a:solidFill>
              </a:rPr>
              <a:t>打开 App 后，用户先看到“下一步做什么”。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F10684-D6CD-4040-A6E1-54928B57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76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3F59E5-2FC6-4A6E-BC61-C936B1FC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00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仅 active 且有 Next Step 的 Project 出现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CC3BF8-B04D-4581-8204-088EF327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219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253353-6D0A-4779-92C2-D417156F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43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最近 Session 与 Proof 提供上下文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13022A-8356-4BD6-9F5D-CDCE22F8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6362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5AE45A-D71E-4FF7-9C3C-7DD3195E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286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Start 进入 Timer，Quick Log 用于补记</a:t>
            </a:r>
          </a:p>
        </p:txBody>
      </p:sp>
    </p:spTree>
    <p:extLst>
      <p:ext uri="{BB962C8B-B14F-4D97-AF65-F5344CB8AC3E}">
        <p14:creationId xmlns:p14="http://schemas.microsoft.com/office/powerpoint/2010/main" val="20655785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509C6E-75E1-4580-A4AD-FDE2CEFD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PROJECTS</a:t>
            </a:r>
          </a:p>
        </p:txBody>
      </p:sp>
      <p:sp>
        <p:nvSpPr>
          <p:cNvPr id="2" name="a4-title-11">
            <a:extLst xmlns:a="http://schemas.openxmlformats.org/drawingml/2006/main">
              <a:ext uri="{FF2B5EF4-FFF2-40B4-BE49-F238E27FC236}">
                <a16:creationId xmlns:a16="http://schemas.microsoft.com/office/drawing/2014/main" id="{E0FA18FC-029F-42B2-9479-8BB2599E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Project 管理目标、节奏与状态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FAD093-A13F-4DC9-9A28-63C842D12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E98D93-DE86-4E93-8AFD-FA3776679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88CF36-CDAB-4FB5-B7E4-C665B683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27C437-6775-4742-AD20-ADF02E12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58483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242B"/>
                </a:solidFill>
              </a:defRPr>
            </a:pPr>
            <a:r>
              <a:rPr sz="1875" b="1">
                <a:solidFill>
                  <a:srgbClr val="25242B"/>
                </a:solidFill>
              </a:rPr>
              <a:t>Project 不是文件夹，而是一个持续学习目标的当前状态。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298B9D-2CCF-4EDF-929A-FE6E561F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字段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55DFA9-7AD8-44BB-83F3-EDBE7302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590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Project、Area、Goal、Next Step；名称、Goal、Next Step 必填。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F4875D-1CB7-4507-9C20-1C2F30F9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482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D258CE-044B-4821-8AAB-A0ED08BD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590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active、low-frequency、paused、archived。归档项目不进入 Today Continue。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C58BCE-651B-47EB-996A-F50EB8F09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9342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详情页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394D40-45F6-4700-938E-EC74103B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372350"/>
            <a:ext cx="590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集中提供 Start、Quick Log、Add Proof、Sessions、Proofs、Reviews 与 Learning Trail。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16ED2D-0043-44A1-ABA4-636D5644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8201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Trail 规则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32F0DF-C3DE-43C4-803C-FF637C53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258300"/>
            <a:ext cx="590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状态和 Next Step 的变化会形成可回看的 Trail 事件。</a:t>
            </a:r>
          </a:p>
        </p:txBody>
      </p:sp>
    </p:spTree>
    <p:extLst>
      <p:ext uri="{BB962C8B-B14F-4D97-AF65-F5344CB8AC3E}">
        <p14:creationId xmlns:p14="http://schemas.microsoft.com/office/powerpoint/2010/main" val="18676385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93FF38-42E6-4C72-909C-0900B4EF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DEMO · QUICK LOG</a:t>
            </a:r>
          </a:p>
        </p:txBody>
      </p:sp>
      <p:sp>
        <p:nvSpPr>
          <p:cNvPr id="2" name="a4-title-12">
            <a:extLst xmlns:a="http://schemas.openxmlformats.org/drawingml/2006/main">
              <a:ext uri="{FF2B5EF4-FFF2-40B4-BE49-F238E27FC236}">
                <a16:creationId xmlns:a16="http://schemas.microsoft.com/office/drawing/2014/main" id="{C73CFE7A-9715-4927-92A5-48FB7EF9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Quick Log 在 30 秒内补记一次学习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A4A807-5CAD-4384-89B7-40CD8371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98F978-C123-4879-92ED-6E7EF24F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DE161-8F46-4214-85E7-CD04492E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2971800" cy="7810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bc4f09758e4467"/>
          <a:stretch xmlns:a="http://schemas.openxmlformats.org/drawingml/2006/main"/>
        </p:blipFill>
        <p:spPr>
          <a:xfrm xmlns:a="http://schemas.openxmlformats.org/drawingml/2006/main">
            <a:off x="762000" y="2730500"/>
            <a:ext cx="2552700" cy="5549900"/>
          </a:xfrm>
          <a:prstGeom xmlns:a="http://schemas.openxmlformats.org/drawingml/2006/main" prst="roundRect">
            <a:avLst>
              <a:gd name="adj" fmla="val 447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D95CA-98AC-471C-85E1-FDBFF906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38350"/>
            <a:ext cx="571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AC5DE5-F963-419B-8C20-C8455539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38350"/>
            <a:ext cx="2762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242B"/>
                </a:solidFill>
              </a:defRPr>
            </a:pPr>
            <a:r>
              <a:rPr sz="1800" b="1">
                <a:solidFill>
                  <a:srgbClr val="25242B"/>
                </a:solidFill>
              </a:rPr>
              <a:t>补记与现场计时进入同一种 Session。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9B4D92-AB42-42E9-935B-E3608377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76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2448CA-F82F-4AE5-8615-5BBBF7B0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00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选择 Action Type 和预设/自定义时长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69B74A-6AE6-4A7E-A819-0657B1FC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219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A3909F-CCF2-48B7-B5BB-DEF96F0A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43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填写一句学习内容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387CDA-0051-4183-8AF9-D30A1130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6362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F4C70B-AE42-4654-9FD0-47DB2EBE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286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可同时更新新的 Next Step</a:t>
            </a:r>
          </a:p>
        </p:txBody>
      </p:sp>
    </p:spTree>
    <p:extLst>
      <p:ext uri="{BB962C8B-B14F-4D97-AF65-F5344CB8AC3E}">
        <p14:creationId xmlns:p14="http://schemas.microsoft.com/office/powerpoint/2010/main" val="187610853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56C3AD-823C-494D-A50C-7F6A831F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DEMO · TIMER</a:t>
            </a:r>
          </a:p>
        </p:txBody>
      </p:sp>
      <p:sp>
        <p:nvSpPr>
          <p:cNvPr id="2" name="a4-title-13">
            <a:extLst xmlns:a="http://schemas.openxmlformats.org/drawingml/2006/main">
              <a:ext uri="{FF2B5EF4-FFF2-40B4-BE49-F238E27FC236}">
                <a16:creationId xmlns:a16="http://schemas.microsoft.com/office/drawing/2014/main" id="{AE811E07-CB6E-400A-8A87-29ADA94A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Timer 只累计活动时间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9A7844-5863-45E2-ABAE-1EAF8BE4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A081AD-7CF4-4546-B31F-CFD3B434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27119F-DCDB-4F4E-BF36-5C567C7C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2971800" cy="7810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642c9e9564558"/>
          <a:stretch xmlns:a="http://schemas.openxmlformats.org/drawingml/2006/main"/>
        </p:blipFill>
        <p:spPr>
          <a:xfrm xmlns:a="http://schemas.openxmlformats.org/drawingml/2006/main">
            <a:off x="762000" y="2730500"/>
            <a:ext cx="2552700" cy="5549900"/>
          </a:xfrm>
          <a:prstGeom xmlns:a="http://schemas.openxmlformats.org/drawingml/2006/main" prst="roundRect">
            <a:avLst>
              <a:gd name="adj" fmla="val 447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C9ACA-9140-4D49-A198-96AECC3E8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38350"/>
            <a:ext cx="571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4CBE99-A8C6-4E95-8FDD-07F720CA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38350"/>
            <a:ext cx="2762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242B"/>
                </a:solidFill>
              </a:defRPr>
            </a:pPr>
            <a:r>
              <a:rPr sz="1800" b="1">
                <a:solidFill>
                  <a:srgbClr val="25242B"/>
                </a:solidFill>
              </a:rPr>
              <a:t>Pause 不计时，Discard 不保存。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51E7C1-D34F-4AF2-83BE-D158113A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76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47E40B-91D9-4DC6-91AB-296449BA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00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Running 与 Paused 状态明确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51E2D8-3911-4AE1-BBDD-DF902AA5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219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296453-C168-4A30-947F-7B659E5F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43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End 后补充内容与 Next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47A194-0897-4D25-9045-738CBE46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6362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5A5323-361D-4AC6-9972-912388DF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286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保存结果与 Quick Log 完全一致</a:t>
            </a:r>
          </a:p>
        </p:txBody>
      </p:sp>
    </p:spTree>
    <p:extLst>
      <p:ext uri="{BB962C8B-B14F-4D97-AF65-F5344CB8AC3E}">
        <p14:creationId xmlns:p14="http://schemas.microsoft.com/office/powerpoint/2010/main" val="1673200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C2A9A4-1D54-4E50-9205-B6758866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DEMO · SESSION</a:t>
            </a:r>
          </a:p>
        </p:txBody>
      </p:sp>
      <p:sp>
        <p:nvSpPr>
          <p:cNvPr id="2" name="a4-title-14">
            <a:extLst xmlns:a="http://schemas.openxmlformats.org/drawingml/2006/main">
              <a:ext uri="{FF2B5EF4-FFF2-40B4-BE49-F238E27FC236}">
                <a16:creationId xmlns:a16="http://schemas.microsoft.com/office/drawing/2014/main" id="{2E952D9A-2911-4EAD-B100-22B9FABD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Session 同时保留行动与 Next Step 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6E05D-7C3F-433A-B835-02A6DD4B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5D418A-6954-44CE-8119-3FC4A0CA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195A44-CA71-48F1-B36E-E869AD9C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2971800" cy="7810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ebbb41b056491f"/>
          <a:stretch xmlns:a="http://schemas.openxmlformats.org/drawingml/2006/main"/>
        </p:blipFill>
        <p:spPr>
          <a:xfrm xmlns:a="http://schemas.openxmlformats.org/drawingml/2006/main">
            <a:off x="762000" y="2730500"/>
            <a:ext cx="2552700" cy="5549900"/>
          </a:xfrm>
          <a:prstGeom xmlns:a="http://schemas.openxmlformats.org/drawingml/2006/main" prst="roundRect">
            <a:avLst>
              <a:gd name="adj" fmla="val 447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BAD291-9473-4CEE-A3F9-704801BC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38350"/>
            <a:ext cx="571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0F8E0-FC80-420E-BF4C-1520B7B2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38350"/>
            <a:ext cx="2762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242B"/>
                </a:solidFill>
              </a:defRPr>
            </a:pPr>
            <a:r>
              <a:rPr sz="1800" b="1">
                <a:solidFill>
                  <a:srgbClr val="25242B"/>
                </a:solidFill>
              </a:rPr>
              <a:t>一条 Session 说明做了什么，也说明项目接下来怎么走。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69FF3-B228-4A05-850A-21467314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76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260CD6-1A0B-4B18-B9A2-57C9EAC09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00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Action 与 Duration 是事实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600045-D9F1-496E-AFF4-7A922B12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219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EFB5D1-11AF-4C3A-BDC4-3727BA47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43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Before / After 记录 Next Step 变化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9418E-7C7B-4663-9E86-992526DC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6362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F32F3F-6F4A-4EF4-BAB9-719EC989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286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可以从 Session 继续添加 Proof</a:t>
            </a:r>
          </a:p>
        </p:txBody>
      </p:sp>
    </p:spTree>
    <p:extLst>
      <p:ext uri="{BB962C8B-B14F-4D97-AF65-F5344CB8AC3E}">
        <p14:creationId xmlns:p14="http://schemas.microsoft.com/office/powerpoint/2010/main" val="15015015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C0860D-0E87-47F0-A2C4-359C9A3B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PROOF</a:t>
            </a:r>
          </a:p>
        </p:txBody>
      </p:sp>
      <p:sp>
        <p:nvSpPr>
          <p:cNvPr id="2" name="a4-title-15">
            <a:extLst xmlns:a="http://schemas.openxmlformats.org/drawingml/2006/main">
              <a:ext uri="{FF2B5EF4-FFF2-40B4-BE49-F238E27FC236}">
                <a16:creationId xmlns:a16="http://schemas.microsoft.com/office/drawing/2014/main" id="{F8FA8C22-27BA-49D6-81D6-C810F98F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Proof 把附件变成可以解释的学习证据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161FBA-307A-43F9-96DB-A690575E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32F057-617A-4BBA-89C9-145171C6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B7697B-BF40-4C81-AA7F-5C219873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6457950" cy="781050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397149633241b0"/>
          <a:stretch xmlns:a="http://schemas.openxmlformats.org/drawingml/2006/main"/>
        </p:blipFill>
        <p:spPr>
          <a:xfrm xmlns:a="http://schemas.openxmlformats.org/drawingml/2006/main">
            <a:off x="1867224" y="1847850"/>
            <a:ext cx="3828402" cy="666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70318A-7F9B-4D96-977C-A7D0514A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0"/>
            <a:ext cx="596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C76"/>
                </a:solidFill>
              </a:defRPr>
            </a:pPr>
            <a:r>
              <a:rPr sz="1275" b="0">
                <a:solidFill>
                  <a:srgbClr val="6F6C76"/>
                </a:solidFill>
              </a:rPr>
              <a:t>图片、录音、文件和链接都必须补充 statement；证据可关联 Session 或仅关联 Project。</a:t>
            </a:r>
          </a:p>
        </p:txBody>
      </p:sp>
    </p:spTree>
    <p:extLst>
      <p:ext uri="{BB962C8B-B14F-4D97-AF65-F5344CB8AC3E}">
        <p14:creationId xmlns:p14="http://schemas.microsoft.com/office/powerpoint/2010/main" val="162825302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E2D75F-9853-4A4D-878A-FA36F2FA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DEMO · PROOF</a:t>
            </a:r>
          </a:p>
        </p:txBody>
      </p:sp>
      <p:sp>
        <p:nvSpPr>
          <p:cNvPr id="2" name="a4-title-16">
            <a:extLst xmlns:a="http://schemas.openxmlformats.org/drawingml/2006/main">
              <a:ext uri="{FF2B5EF4-FFF2-40B4-BE49-F238E27FC236}">
                <a16:creationId xmlns:a16="http://schemas.microsoft.com/office/drawing/2014/main" id="{AB3B8E97-94C7-4526-8747-B2D4773FA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Add Proof 明确区分类型、说明和附件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93C3DA-E99B-4AA7-9E3C-4B1683BE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087DB-953F-4E6C-9403-3F5C18E7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4BD6D8-DAFA-4BF5-88B7-915FF1B5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2971800" cy="7810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0b184f9a6f4573"/>
          <a:stretch xmlns:a="http://schemas.openxmlformats.org/drawingml/2006/main"/>
        </p:blipFill>
        <p:spPr>
          <a:xfrm xmlns:a="http://schemas.openxmlformats.org/drawingml/2006/main">
            <a:off x="762000" y="2730500"/>
            <a:ext cx="2552700" cy="5549900"/>
          </a:xfrm>
          <a:prstGeom xmlns:a="http://schemas.openxmlformats.org/drawingml/2006/main" prst="roundRect">
            <a:avLst>
              <a:gd name="adj" fmla="val 447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80CF0D-07C6-43E2-9D84-D60F1478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38350"/>
            <a:ext cx="571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593F67-3F94-4D96-8D43-8DFC593F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38350"/>
            <a:ext cx="2762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242B"/>
                </a:solidFill>
              </a:defRPr>
            </a:pPr>
            <a:r>
              <a:rPr sz="1800" b="1">
                <a:solidFill>
                  <a:srgbClr val="25242B"/>
                </a:solidFill>
              </a:rPr>
              <a:t>“What does this prove?” 是必填项。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C0FDED-D4F1-42B5-BA25-2411C43F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76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E7A00C-8132-4044-B197-4ABA696D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00500"/>
            <a:ext cx="274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图片：相机或照片库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14E8A-D9B7-417D-9621-D62D17D0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9339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A22E2C-1939-4FB3-AD82-406EB935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57750"/>
            <a:ext cx="274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音频：本地录音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21CCC2-0E58-48A7-AB57-3616B14F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7912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4CB58C-FAED-4F9E-9859-5F8FF798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715000"/>
            <a:ext cx="274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文件：系统文件选择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86B09-7252-4DEF-9A9D-8AC19342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66484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476742-1563-4487-8324-89CF915AB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572250"/>
            <a:ext cx="274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链接：无权限时的稳定备用路径</a:t>
            </a:r>
          </a:p>
        </p:txBody>
      </p:sp>
    </p:spTree>
    <p:extLst>
      <p:ext uri="{BB962C8B-B14F-4D97-AF65-F5344CB8AC3E}">
        <p14:creationId xmlns:p14="http://schemas.microsoft.com/office/powerpoint/2010/main" val="171378732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A4EAF0-5F55-42CC-85FF-A955898D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DEMO · PROOF DETAIL</a:t>
            </a:r>
          </a:p>
        </p:txBody>
      </p:sp>
      <p:sp>
        <p:nvSpPr>
          <p:cNvPr id="2" name="a4-title-17">
            <a:extLst xmlns:a="http://schemas.openxmlformats.org/drawingml/2006/main">
              <a:ext uri="{FF2B5EF4-FFF2-40B4-BE49-F238E27FC236}">
                <a16:creationId xmlns:a16="http://schemas.microsoft.com/office/drawing/2014/main" id="{EDD09C05-13EC-4617-96AE-3CF3509E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Proof Detail 保留证据的上下文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BFA080-6123-49FB-B4FB-DDB3A4C8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93B3E2-7BF8-4A8E-8E7D-2851C178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B00621-2D31-4F76-A1E6-D53F11969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2971800" cy="7810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1e1d3bd49a48ce"/>
          <a:stretch xmlns:a="http://schemas.openxmlformats.org/drawingml/2006/main"/>
        </p:blipFill>
        <p:spPr>
          <a:xfrm xmlns:a="http://schemas.openxmlformats.org/drawingml/2006/main">
            <a:off x="762000" y="2730500"/>
            <a:ext cx="2552700" cy="5549900"/>
          </a:xfrm>
          <a:prstGeom xmlns:a="http://schemas.openxmlformats.org/drawingml/2006/main" prst="roundRect">
            <a:avLst>
              <a:gd name="adj" fmla="val 447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78B35B-5B36-4603-8601-16F4AFCF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38350"/>
            <a:ext cx="571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6BF4E9-71C3-4D75-955F-5EDFD05F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38350"/>
            <a:ext cx="2762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242B"/>
                </a:solidFill>
              </a:defRPr>
            </a:pPr>
            <a:r>
              <a:rPr sz="1800" b="1">
                <a:solidFill>
                  <a:srgbClr val="25242B"/>
                </a:solidFill>
              </a:rPr>
              <a:t>回看时既能看到内容，也能知道它来自哪个 Project 与 Session。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478865-07F4-4387-854D-39452A21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76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FF0C25-23E6-49E7-8DA2-7DDC2E51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00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图片、音频、文件、链接使用不同预览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805724-4EBC-4918-8B4B-571DD8FC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219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8FA298-2E80-46E2-A5AD-1850D2FD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43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statement 解释证据意义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D93797-7DB5-4C5D-A22D-FEB5720A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6362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30AD20-5875-4972-A4AA-21384965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286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附件缺失时显示不可用状态</a:t>
            </a:r>
          </a:p>
        </p:txBody>
      </p:sp>
    </p:spTree>
    <p:extLst>
      <p:ext uri="{BB962C8B-B14F-4D97-AF65-F5344CB8AC3E}">
        <p14:creationId xmlns:p14="http://schemas.microsoft.com/office/powerpoint/2010/main" val="69605590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310AFE-180C-4F9E-8C65-315BF85D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DEMO · PROJECT DETAIL</a:t>
            </a:r>
          </a:p>
        </p:txBody>
      </p:sp>
      <p:sp>
        <p:nvSpPr>
          <p:cNvPr id="2" name="a4-title-18">
            <a:extLst xmlns:a="http://schemas.openxmlformats.org/drawingml/2006/main">
              <a:ext uri="{FF2B5EF4-FFF2-40B4-BE49-F238E27FC236}">
                <a16:creationId xmlns:a16="http://schemas.microsoft.com/office/drawing/2014/main" id="{66BD9BC2-2E11-4CB1-9839-ACA422E5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Project Detail 是 Trail 的项目上下文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FC8EE2-7252-49C2-8038-D66F26AE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CDB3C1-AD41-4819-AA9F-4EA53FC1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A32B39-6360-4C4F-B330-B4023780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2971800" cy="7810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e4128d5b3f4c48"/>
          <a:stretch xmlns:a="http://schemas.openxmlformats.org/drawingml/2006/main"/>
        </p:blipFill>
        <p:spPr>
          <a:xfrm xmlns:a="http://schemas.openxmlformats.org/drawingml/2006/main">
            <a:off x="762000" y="2730500"/>
            <a:ext cx="2552700" cy="5549900"/>
          </a:xfrm>
          <a:prstGeom xmlns:a="http://schemas.openxmlformats.org/drawingml/2006/main" prst="roundRect">
            <a:avLst>
              <a:gd name="adj" fmla="val 447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31FBEC-53C7-4305-8460-026F5F67A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38350"/>
            <a:ext cx="571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15B270-764F-4AA8-9802-B44B5078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38350"/>
            <a:ext cx="2762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242B"/>
                </a:solidFill>
              </a:defRPr>
            </a:pPr>
            <a:r>
              <a:rPr sz="1800" b="1">
                <a:solidFill>
                  <a:srgbClr val="25242B"/>
                </a:solidFill>
              </a:rPr>
              <a:t>行为、证据、状态与 Review 都回到同一个 Project。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C99A91-8C18-4696-A035-ACF63D0C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76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A99537-F8B1-407F-ACDC-9E5C5DC8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00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Goal 与 Next Step 说明方向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DC67BF-D677-49D7-BD1A-F7537F19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219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F4FB4-D825-446E-B6C1-9204F6B0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43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Actions 连接 Timer、Quick Log、Proof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2192CC-3338-4152-B801-E20DDE52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6362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6C78CB-617E-4449-909B-D276CC3D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286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Sessions、Proofs、Reviews 与 Trail 在同页延伸</a:t>
            </a:r>
          </a:p>
        </p:txBody>
      </p:sp>
    </p:spTree>
    <p:extLst>
      <p:ext uri="{BB962C8B-B14F-4D97-AF65-F5344CB8AC3E}">
        <p14:creationId xmlns:p14="http://schemas.microsoft.com/office/powerpoint/2010/main" val="12972029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6E5569-5FE9-41C4-ADA0-C7427CD9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REVIEW</a:t>
            </a:r>
          </a:p>
        </p:txBody>
      </p:sp>
      <p:sp>
        <p:nvSpPr>
          <p:cNvPr id="2" name="a4-title-19">
            <a:extLst xmlns:a="http://schemas.openxmlformats.org/drawingml/2006/main">
              <a:ext uri="{FF2B5EF4-FFF2-40B4-BE49-F238E27FC236}">
                <a16:creationId xmlns:a16="http://schemas.microsoft.com/office/drawing/2014/main" id="{4DBF07AA-4EC8-4A29-A774-E01F87F92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Review 保存判断，但不自动应用建议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69DFD-49AA-4868-B733-6EFDDDF0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3EBDCC-6607-456A-B8C0-454B4D9B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D26C23-81D0-46C0-93BB-9F488461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6457950" cy="781050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c10e1cb6b7439f"/>
          <a:stretch xmlns:a="http://schemas.openxmlformats.org/drawingml/2006/main"/>
        </p:blipFill>
        <p:spPr>
          <a:xfrm xmlns:a="http://schemas.openxmlformats.org/drawingml/2006/main">
            <a:off x="2333339" y="1847850"/>
            <a:ext cx="2896172" cy="666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ECA91F-1632-40C1-9AED-CBD52FFF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0"/>
            <a:ext cx="596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C76"/>
                </a:solidFill>
              </a:defRPr>
            </a:pPr>
            <a:r>
              <a:rPr sz="1275" b="0">
                <a:solidFill>
                  <a:srgbClr val="6F6C76"/>
                </a:solidFill>
              </a:rPr>
              <a:t>Facts、Patterns、Decisions 和 Next Steps 都可编辑；状态与 Next Step 必须分别显式应用。</a:t>
            </a:r>
          </a:p>
        </p:txBody>
      </p:sp>
    </p:spTree>
    <p:extLst>
      <p:ext uri="{BB962C8B-B14F-4D97-AF65-F5344CB8AC3E}">
        <p14:creationId xmlns:p14="http://schemas.microsoft.com/office/powerpoint/2010/main" val="90841232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DB51A8-BB83-41BC-8D20-421A519A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DEMO · REVIEW</a:t>
            </a:r>
          </a:p>
        </p:txBody>
      </p:sp>
      <p:sp>
        <p:nvSpPr>
          <p:cNvPr id="2" name="a4-title-20">
            <a:extLst xmlns:a="http://schemas.openxmlformats.org/drawingml/2006/main">
              <a:ext uri="{FF2B5EF4-FFF2-40B4-BE49-F238E27FC236}">
                <a16:creationId xmlns:a16="http://schemas.microsoft.com/office/drawing/2014/main" id="{5ADEE365-62F7-4482-944B-97C5B0AD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来源引用让 Review 可以被追溯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422F80-35C5-4A4E-BB98-E3F5F635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3F47F1-4377-4A02-9A8E-DF45FA16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7C6FEC-CD60-488E-9498-7D70A5B4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2971800" cy="7810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3be3887f0b4471"/>
          <a:stretch xmlns:a="http://schemas.openxmlformats.org/drawingml/2006/main"/>
        </p:blipFill>
        <p:spPr>
          <a:xfrm xmlns:a="http://schemas.openxmlformats.org/drawingml/2006/main">
            <a:off x="762000" y="2730500"/>
            <a:ext cx="2552700" cy="5549900"/>
          </a:xfrm>
          <a:prstGeom xmlns:a="http://schemas.openxmlformats.org/drawingml/2006/main" prst="roundRect">
            <a:avLst>
              <a:gd name="adj" fmla="val 447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2B99A-6B35-4067-B296-509989FD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38350"/>
            <a:ext cx="571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600C75-B309-4B5D-9D46-8AB2137E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38350"/>
            <a:ext cx="2762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242B"/>
                </a:solidFill>
              </a:defRPr>
            </a:pPr>
            <a:r>
              <a:rPr sz="1800" b="1">
                <a:solidFill>
                  <a:srgbClr val="25242B"/>
                </a:solidFill>
              </a:rPr>
              <a:t>复盘不是黑盒总结，而是带来源的阶段判断。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4B2816-C74A-4915-AD3D-1B8849E1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76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35EDFE-BC8D-4978-A205-A75FF04F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00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Facts、Patterns、Decisions 可继续编辑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EEEC6A-8952-4EAE-A456-AE869646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219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A39B89-B54D-46B5-AF2F-99D10754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43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来源显示具体 Session 或 Proof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787ADC-DB55-45B3-872F-1FDA3313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6362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C49A08-9357-47D8-A9AC-5A096A2C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286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Save 与 Apply Status / Next Step 分离</a:t>
            </a:r>
          </a:p>
        </p:txBody>
      </p:sp>
    </p:spTree>
    <p:extLst>
      <p:ext uri="{BB962C8B-B14F-4D97-AF65-F5344CB8AC3E}">
        <p14:creationId xmlns:p14="http://schemas.microsoft.com/office/powerpoint/2010/main" val="17613923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E2D7D8-4F47-4BE7-836B-54C71CDD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AI FALLBACK</a:t>
            </a:r>
          </a:p>
        </p:txBody>
      </p:sp>
      <p:sp>
        <p:nvSpPr>
          <p:cNvPr id="2" name="a4-title-21">
            <a:extLst xmlns:a="http://schemas.openxmlformats.org/drawingml/2006/main">
              <a:ext uri="{FF2B5EF4-FFF2-40B4-BE49-F238E27FC236}">
                <a16:creationId xmlns:a16="http://schemas.microsoft.com/office/drawing/2014/main" id="{1A793F72-CE40-410E-A023-685B3F9F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AI 失败不会阻断 Weekly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3157DB-AC5D-431D-9931-D21675CE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A935B-FBC0-4980-9C4C-6E9006DC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B2BDF8-2082-43A9-8E52-0A70FF6D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6457950" cy="781050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5f67a5ef44f56"/>
          <a:stretch xmlns:a="http://schemas.openxmlformats.org/drawingml/2006/main"/>
        </p:blipFill>
        <p:spPr>
          <a:xfrm xmlns:a="http://schemas.openxmlformats.org/drawingml/2006/main">
            <a:off x="2588615" y="1847850"/>
            <a:ext cx="2385619" cy="666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A2F4A8-88D2-44F5-BAFA-D5673646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0"/>
            <a:ext cx="596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C76"/>
                </a:solidFill>
              </a:defRPr>
            </a:pPr>
            <a:r>
              <a:rPr sz="1275" b="0">
                <a:solidFill>
                  <a:srgbClr val="6F6C76"/>
                </a:solidFill>
              </a:rPr>
              <a:t>未配置、请求失败或响应不可解析时使用本地证据规则；输出仍可编辑、保存和应用。</a:t>
            </a:r>
          </a:p>
        </p:txBody>
      </p:sp>
    </p:spTree>
    <p:extLst>
      <p:ext uri="{BB962C8B-B14F-4D97-AF65-F5344CB8AC3E}">
        <p14:creationId xmlns:p14="http://schemas.microsoft.com/office/powerpoint/2010/main" val="21764592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21D6EE-9EA2-48A2-BCBA-98CF7B4E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DEMO · LIBRARY</a:t>
            </a:r>
          </a:p>
        </p:txBody>
      </p:sp>
      <p:sp>
        <p:nvSpPr>
          <p:cNvPr id="2" name="a4-title-22">
            <a:extLst xmlns:a="http://schemas.openxmlformats.org/drawingml/2006/main">
              <a:ext uri="{FF2B5EF4-FFF2-40B4-BE49-F238E27FC236}">
                <a16:creationId xmlns:a16="http://schemas.microsoft.com/office/drawing/2014/main" id="{61CE13C9-BC6A-411A-81D3-D6E9608C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Library 从证据角度回看所有项目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14EB3E-073D-4414-AC45-03D6747D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5A846B-E262-4575-8207-3EB1A7E8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F06941-0643-4464-94CB-44133E73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2971800" cy="7810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9d5635bd9640d6"/>
          <a:stretch xmlns:a="http://schemas.openxmlformats.org/drawingml/2006/main"/>
        </p:blipFill>
        <p:spPr>
          <a:xfrm xmlns:a="http://schemas.openxmlformats.org/drawingml/2006/main">
            <a:off x="762000" y="2730500"/>
            <a:ext cx="2552700" cy="5549900"/>
          </a:xfrm>
          <a:prstGeom xmlns:a="http://schemas.openxmlformats.org/drawingml/2006/main" prst="roundRect">
            <a:avLst>
              <a:gd name="adj" fmla="val 447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F03789-8B88-4701-8D4F-B20DE2D3C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38350"/>
            <a:ext cx="571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F431C6-4625-4EB6-B1F4-BA8BD909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38350"/>
            <a:ext cx="2762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242B"/>
                </a:solidFill>
              </a:defRPr>
            </a:pPr>
            <a:r>
              <a:rPr sz="1800" b="1">
                <a:solidFill>
                  <a:srgbClr val="25242B"/>
                </a:solidFill>
              </a:rPr>
              <a:t>同一批 Proof 可以按 Time、Project 或 Type 重组。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337C31-8945-4D70-8AF2-45DB1C7A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76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E044DF-C526-4E0B-A141-1F97399D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00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每条显示 Project、Session、时间与附件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41BB6-086C-4C9D-B533-DC380E94A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219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B82662-D572-419F-86D1-E44DFA6A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43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可从 Library 选择 Project 新增 Proof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04B380-B45F-4E1E-A7F3-21A36F61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63627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D08B61-4D95-403C-A407-F56FE5F7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286500"/>
            <a:ext cx="2743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v0.1 尚无全文搜索</a:t>
            </a:r>
          </a:p>
        </p:txBody>
      </p:sp>
    </p:spTree>
    <p:extLst>
      <p:ext uri="{BB962C8B-B14F-4D97-AF65-F5344CB8AC3E}">
        <p14:creationId xmlns:p14="http://schemas.microsoft.com/office/powerpoint/2010/main" val="122382044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F59139-035A-41E3-BF9B-FDF5F912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EXPORT</a:t>
            </a:r>
          </a:p>
        </p:txBody>
      </p:sp>
      <p:sp>
        <p:nvSpPr>
          <p:cNvPr id="2" name="a4-title-23">
            <a:extLst xmlns:a="http://schemas.openxmlformats.org/drawingml/2006/main">
              <a:ext uri="{FF2B5EF4-FFF2-40B4-BE49-F238E27FC236}">
                <a16:creationId xmlns:a16="http://schemas.microsoft.com/office/drawing/2014/main" id="{B50C544E-899D-4B85-A5D5-45FABB08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一次 Export 生成完整本地 Bundle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D28DA6-0306-4DC8-AA22-016339B3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B8C4F-73B4-4462-9DBF-8B773DE4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6512F6-BBDF-4473-8671-BE05364E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6457950" cy="781050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5d9db5ea544b0d"/>
          <a:stretch xmlns:a="http://schemas.openxmlformats.org/drawingml/2006/main"/>
        </p:blipFill>
        <p:spPr>
          <a:xfrm xmlns:a="http://schemas.openxmlformats.org/drawingml/2006/main">
            <a:off x="1427717" y="1847850"/>
            <a:ext cx="4707416" cy="6667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507962-66A2-49F4-ADC3-9AFF7294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0"/>
            <a:ext cx="596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C76"/>
                </a:solidFill>
              </a:defRPr>
            </a:pPr>
            <a:r>
              <a:rPr sz="1275" b="0">
                <a:solidFill>
                  <a:srgbClr val="6F6C76"/>
                </a:solidFill>
              </a:rPr>
              <a:t>输出版本化 journal.json 和附件目录，保存到 Documents/LearningJournal/Exports；失败不改动原始数据。</a:t>
            </a:r>
          </a:p>
        </p:txBody>
      </p:sp>
    </p:spTree>
    <p:extLst>
      <p:ext uri="{BB962C8B-B14F-4D97-AF65-F5344CB8AC3E}">
        <p14:creationId xmlns:p14="http://schemas.microsoft.com/office/powerpoint/2010/main" val="32551006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539C04-0C0E-47DD-91E5-D5F92848A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DEMO STORYBOARD</a:t>
            </a:r>
          </a:p>
        </p:txBody>
      </p:sp>
      <p:sp>
        <p:nvSpPr>
          <p:cNvPr id="2" name="a4-title-24">
            <a:extLst xmlns:a="http://schemas.openxmlformats.org/drawingml/2006/main">
              <a:ext uri="{FF2B5EF4-FFF2-40B4-BE49-F238E27FC236}">
                <a16:creationId xmlns:a16="http://schemas.microsoft.com/office/drawing/2014/main" id="{8952CC77-6DC3-4CB9-9A65-4432D6D8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5–10 分钟讲完一条学习故事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B949E-E14E-489E-BE69-F3883263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778382-8DB6-4D75-85BF-6F3D8C9B2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76479E-5E20-4AFB-B07C-EF0DC6AA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6457950" cy="781050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94879a6c0f4544"/>
          <a:stretch xmlns:a="http://schemas.openxmlformats.org/drawingml/2006/main"/>
        </p:blipFill>
        <p:spPr>
          <a:xfrm xmlns:a="http://schemas.openxmlformats.org/drawingml/2006/main">
            <a:off x="781050" y="5004108"/>
            <a:ext cx="6000750" cy="35498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7B2BD7-EE0A-462E-B4C4-0A6C644A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0"/>
            <a:ext cx="596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F6C76"/>
                </a:solidFill>
              </a:defRPr>
            </a:pPr>
            <a:r>
              <a:rPr sz="1275" b="0">
                <a:solidFill>
                  <a:srgbClr val="6F6C76"/>
                </a:solidFill>
              </a:rPr>
              <a:t>建议用 CS336 贯穿 Today、Timer/Quick Log、Proof、Project Detail 和 Weekly Review。</a:t>
            </a:r>
          </a:p>
        </p:txBody>
      </p:sp>
    </p:spTree>
    <p:extLst>
      <p:ext uri="{BB962C8B-B14F-4D97-AF65-F5344CB8AC3E}">
        <p14:creationId xmlns:p14="http://schemas.microsoft.com/office/powerpoint/2010/main" val="5823710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0D5E77-6C1B-4793-AA18-BCEAF9B6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DEMO SCRIPT</a:t>
            </a:r>
          </a:p>
        </p:txBody>
      </p:sp>
      <p:sp>
        <p:nvSpPr>
          <p:cNvPr id="2" name="a4-title-25">
            <a:extLst xmlns:a="http://schemas.openxmlformats.org/drawingml/2006/main">
              <a:ext uri="{FF2B5EF4-FFF2-40B4-BE49-F238E27FC236}">
                <a16:creationId xmlns:a16="http://schemas.microsoft.com/office/drawing/2014/main" id="{70586CF1-F14F-420B-B8D3-A2362977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标准 Demo 的讲解顺序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CFBC78-639F-42A8-A652-9D87539E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57A2F1-12FC-4E1C-9AB9-D7C0D84C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4BD608-98B8-4F7A-A460-001D4FD1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28FD98-026D-4273-A759-730206888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58483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242B"/>
                </a:solidFill>
              </a:defRPr>
            </a:pPr>
            <a:r>
              <a:rPr sz="1875" b="1">
                <a:solidFill>
                  <a:srgbClr val="25242B"/>
                </a:solidFill>
              </a:rPr>
              <a:t>每一步都回答一个产品问题，不需要展示所有字段。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C37597-AB80-456C-8877-8748E3061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1 · Today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562C28-5311-4428-AE04-91266BF3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590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Next Step 为什么比任务清单更接近行动？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75204D-02E1-4E3E-89DF-3BA1EA17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2 · Session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779691-4992-4AC3-8464-DBF23581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590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Quick Log 与 Timer 如何共享同一种记录？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EB8047-7836-4BB5-B7A3-EF486CDC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674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3 · Proof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43CDCB-3DD6-423A-B0CB-6F9F8ED7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705600"/>
            <a:ext cx="590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为什么附件必须解释“这证明了什么”？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C8EDAB-A911-4000-94C8-33FF8AA2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7724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4 · 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1DDFE5-DB75-49AD-86DB-7201D156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210550"/>
            <a:ext cx="590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AI 或本地规则如何提出建议，但不替用户做决定？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B0E6C3-5A1E-4CD4-88CA-AF4E5ABA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488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5 · Export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2E19CE-6656-4CF8-B07D-1AF8179E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886950"/>
            <a:ext cx="590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用户如何把结构化记录与附件一起带走？</a:t>
            </a:r>
          </a:p>
        </p:txBody>
      </p:sp>
    </p:spTree>
    <p:extLst>
      <p:ext uri="{BB962C8B-B14F-4D97-AF65-F5344CB8AC3E}">
        <p14:creationId xmlns:p14="http://schemas.microsoft.com/office/powerpoint/2010/main" val="14512721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604488-724C-4A89-AAC4-5A6866E0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STATUS</a:t>
            </a:r>
          </a:p>
        </p:txBody>
      </p:sp>
      <p:sp>
        <p:nvSpPr>
          <p:cNvPr id="2" name="a4-title-26">
            <a:extLst xmlns:a="http://schemas.openxmlformats.org/drawingml/2006/main">
              <a:ext uri="{FF2B5EF4-FFF2-40B4-BE49-F238E27FC236}">
                <a16:creationId xmlns:a16="http://schemas.microsoft.com/office/drawing/2014/main" id="{1C1F98DB-8914-4B30-A613-AA5F1AE2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当前能力与规划能力保持清晰边界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D775C-89D5-4726-B819-9D7CB4F1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DBF8A9-A17E-430B-9121-3139376C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B0BC9C-E281-449B-89F9-8F9FC464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64579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0FFDF5-A3B8-4F1F-8D55-84F07C39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71650"/>
            <a:ext cx="990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A2FE56-07E3-4CA9-84D0-06F16D05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876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34866B"/>
                </a:solidFill>
              </a:defRPr>
            </a:pPr>
            <a:r>
              <a:rPr sz="975" b="1">
                <a:solidFill>
                  <a:srgbClr val="34866B"/>
                </a:solidFill>
              </a:rPr>
              <a:t>已实现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911318-0295-4740-9E22-F3F92B1E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790700"/>
            <a:ext cx="247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242B"/>
                </a:solidFill>
              </a:defRPr>
            </a:pPr>
            <a:r>
              <a:rPr sz="1050" b="1">
                <a:solidFill>
                  <a:srgbClr val="25242B"/>
                </a:solidFill>
              </a:rPr>
              <a:t>首次启动与 1-3 个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A93023-9A8B-4F2B-9E36-27ED13DF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790700"/>
            <a:ext cx="2266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C76"/>
                </a:solidFill>
              </a:defRPr>
            </a:pPr>
            <a:r>
              <a:rPr sz="975" b="0">
                <a:solidFill>
                  <a:srgbClr val="6F6C76"/>
                </a:solidFill>
              </a:rPr>
              <a:t>两步 Onboarding 创建当前学习项目，并要求首条 Session。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09140D-623B-479A-990C-9C921BC6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47950"/>
            <a:ext cx="64579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95B0C-2CA5-40D9-AE33-440EA15F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990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A1E4D4-EEDD-4FBF-BC5C-34231064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876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34866B"/>
                </a:solidFill>
              </a:defRPr>
            </a:pPr>
            <a:r>
              <a:rPr sz="975" b="1">
                <a:solidFill>
                  <a:srgbClr val="34866B"/>
                </a:solidFill>
              </a:rPr>
              <a:t>已实现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18E230-0C70-4B20-A9A1-CDB61028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781300"/>
            <a:ext cx="247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242B"/>
                </a:solidFill>
              </a:defRPr>
            </a:pPr>
            <a:r>
              <a:rPr sz="1050" b="1">
                <a:solidFill>
                  <a:srgbClr val="25242B"/>
                </a:solidFill>
              </a:rPr>
              <a:t>Quick Log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866E3C-483E-4C6B-ADEC-FB113538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81300"/>
            <a:ext cx="2266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C76"/>
                </a:solidFill>
              </a:defRPr>
            </a:pPr>
            <a:r>
              <a:rPr sz="975" b="0">
                <a:solidFill>
                  <a:srgbClr val="6F6C76"/>
                </a:solidFill>
              </a:rPr>
              <a:t>用预设或自定义时长补记 Session，并可更新 Next Step。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A6E4F3-C768-49BA-9AFE-BE271260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64579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6F9ADC-0588-473A-9B38-3921BF33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990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825385-0A4F-4309-83BC-CF734818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71900"/>
            <a:ext cx="876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34866B"/>
                </a:solidFill>
              </a:defRPr>
            </a:pPr>
            <a:r>
              <a:rPr sz="975" b="1">
                <a:solidFill>
                  <a:srgbClr val="34866B"/>
                </a:solidFill>
              </a:rPr>
              <a:t>已实现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C6D532-3D67-4D98-9F62-2D425EDA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771900"/>
            <a:ext cx="247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242B"/>
                </a:solidFill>
              </a:defRPr>
            </a:pPr>
            <a:r>
              <a:rPr sz="1050" b="1">
                <a:solidFill>
                  <a:srgbClr val="25242B"/>
                </a:solidFill>
              </a:rPr>
              <a:t>Proof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66E515-8B94-4621-BBE4-87FBBCA7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71900"/>
            <a:ext cx="2266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C76"/>
                </a:solidFill>
              </a:defRPr>
            </a:pPr>
            <a:r>
              <a:rPr sz="975" b="0">
                <a:solidFill>
                  <a:srgbClr val="6F6C76"/>
                </a:solidFill>
              </a:rPr>
              <a:t>添加图片、录音、文件或链接，并查看对应预览。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54FB4D-068A-4188-B5E6-16B5E615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9150"/>
            <a:ext cx="64579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B3C653-F1A5-4F24-94BE-E359F1895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43450"/>
            <a:ext cx="990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65DA23-20C1-40CB-B160-A4556029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876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34866B"/>
                </a:solidFill>
              </a:defRPr>
            </a:pPr>
            <a:r>
              <a:rPr sz="975" b="1">
                <a:solidFill>
                  <a:srgbClr val="34866B"/>
                </a:solidFill>
              </a:rPr>
              <a:t>已实现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7B190B-903C-4A85-BCB9-D380F3E3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762500"/>
            <a:ext cx="247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242B"/>
                </a:solidFill>
              </a:defRPr>
            </a:pPr>
            <a:r>
              <a:rPr sz="1050" b="1">
                <a:solidFill>
                  <a:srgbClr val="25242B"/>
                </a:solidFill>
              </a:rPr>
              <a:t>Weekly Review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0A892C-D1BB-4A55-A567-82A812E9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762500"/>
            <a:ext cx="2266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C76"/>
                </a:solidFill>
              </a:defRPr>
            </a:pPr>
            <a:r>
              <a:rPr sz="975" b="0">
                <a:solidFill>
                  <a:srgbClr val="6F6C76"/>
                </a:solidFill>
              </a:rPr>
              <a:t>生成、编辑并保存 Facts、Patterns、Decisions 和 Next Steps。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A0FF40-0252-4F4A-A3E0-03BB31C3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64579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178993-D553-468D-84EF-89B48123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34050"/>
            <a:ext cx="990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6E7D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6A3084-24DD-4B65-B863-F8D880C6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876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77932"/>
                </a:solidFill>
              </a:defRPr>
            </a:pPr>
            <a:r>
              <a:rPr sz="975" b="1">
                <a:solidFill>
                  <a:srgbClr val="C77932"/>
                </a:solidFill>
              </a:rPr>
              <a:t>部分实现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B4606C-455E-4DB3-A206-079C6A02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753100"/>
            <a:ext cx="247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242B"/>
                </a:solidFill>
              </a:defRPr>
            </a:pPr>
            <a:r>
              <a:rPr sz="1050" b="1">
                <a:solidFill>
                  <a:srgbClr val="25242B"/>
                </a:solidFill>
              </a:rPr>
              <a:t>OpenAI-compatible Review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348D3D-AD27-4F57-9E65-B36EFCD2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753100"/>
            <a:ext cx="2266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C76"/>
                </a:solidFill>
              </a:defRPr>
            </a:pPr>
            <a:r>
              <a:rPr sz="975" b="0">
                <a:solidFill>
                  <a:srgbClr val="6F6C76"/>
                </a:solidFill>
              </a:rPr>
              <a:t>配置 Endpoint、Model 与 API Key 后调用 Chat Completions。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E8D5C7-C00A-4F33-8ABA-647B3F1D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10350"/>
            <a:ext cx="64579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E0AA5D-7828-4618-ACFE-75C5B08B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724650"/>
            <a:ext cx="990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DE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8BFDA3-A108-48DC-A9B5-2B815BAF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43700"/>
            <a:ext cx="876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34866B"/>
                </a:solidFill>
              </a:defRPr>
            </a:pPr>
            <a:r>
              <a:rPr sz="975" b="1">
                <a:solidFill>
                  <a:srgbClr val="34866B"/>
                </a:solidFill>
              </a:rPr>
              <a:t>已实现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C6DBF8-2644-4896-A0EA-99F266FE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743700"/>
            <a:ext cx="247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242B"/>
                </a:solidFill>
              </a:defRPr>
            </a:pPr>
            <a:r>
              <a:rPr sz="1050" b="1">
                <a:solidFill>
                  <a:srgbClr val="25242B"/>
                </a:solidFill>
              </a:rPr>
              <a:t>完整 Bundle 导出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644F86-0270-4D1D-AD92-DEA28B1E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6743700"/>
            <a:ext cx="2266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C76"/>
                </a:solidFill>
              </a:defRPr>
            </a:pPr>
            <a:r>
              <a:rPr sz="975" b="0">
                <a:solidFill>
                  <a:srgbClr val="6F6C76"/>
                </a:solidFill>
              </a:rPr>
              <a:t>一次导出版本化 journal.json 与附件目录。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26318A-6E87-4391-9E8E-B4A6B066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00950"/>
            <a:ext cx="64579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41CE9C-DD21-43BD-BC52-9337BF20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715250"/>
            <a:ext cx="990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E2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C52B76-7F15-4315-9995-DC9B5A12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734300"/>
            <a:ext cx="876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57D9"/>
                </a:solidFill>
              </a:defRPr>
            </a:pPr>
            <a:r>
              <a:rPr sz="975" b="1">
                <a:solidFill>
                  <a:srgbClr val="6657D9"/>
                </a:solidFill>
              </a:rPr>
              <a:t>已设计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B120B2-2037-41D4-BCA5-35E5E8A4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7734300"/>
            <a:ext cx="247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242B"/>
                </a:solidFill>
              </a:defRPr>
            </a:pPr>
            <a:r>
              <a:rPr sz="1050" b="1">
                <a:solidFill>
                  <a:srgbClr val="25242B"/>
                </a:solidFill>
              </a:rPr>
              <a:t>CloudKit/iCloud 私有同步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64C444D-2A7B-49F0-A19F-AF6CF051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7734300"/>
            <a:ext cx="2266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C76"/>
                </a:solidFill>
              </a:defRPr>
            </a:pPr>
            <a:r>
              <a:rPr sz="975" b="0">
                <a:solidFill>
                  <a:srgbClr val="6F6C76"/>
                </a:solidFill>
              </a:rPr>
              <a:t>当前 App 不显示同步入口。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1C2DDB-1852-4DB4-9B6C-B7AA29484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591550"/>
            <a:ext cx="64579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4C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96A43A7-7DA9-4C12-9504-AFF7397E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05850"/>
            <a:ext cx="990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E2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F60C4E-77A3-437B-97D8-AAA02A71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724900"/>
            <a:ext cx="876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57D9"/>
                </a:solidFill>
              </a:defRPr>
            </a:pPr>
            <a:r>
              <a:rPr sz="975" b="1">
                <a:solidFill>
                  <a:srgbClr val="6657D9"/>
                </a:solidFill>
              </a:rPr>
              <a:t>已设计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82C31D-9313-4D2B-A9BD-E94BE85B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8724900"/>
            <a:ext cx="247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242B"/>
                </a:solidFill>
              </a:defRPr>
            </a:pPr>
            <a:r>
              <a:rPr sz="1050" b="1">
                <a:solidFill>
                  <a:srgbClr val="25242B"/>
                </a:solidFill>
              </a:rPr>
              <a:t>AI 课程规划与学习日历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1B24FBA-98A0-46C8-B647-FE6B9C44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8724900"/>
            <a:ext cx="2266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F6C76"/>
                </a:solidFill>
              </a:defRPr>
            </a:pPr>
            <a:r>
              <a:rPr sz="975" b="0">
                <a:solidFill>
                  <a:srgbClr val="6F6C76"/>
                </a:solidFill>
              </a:rPr>
              <a:t>当前 App 不显示课程规划或 Calendar Tab。</a:t>
            </a:r>
          </a:p>
        </p:txBody>
      </p:sp>
    </p:spTree>
    <p:extLst>
      <p:ext uri="{BB962C8B-B14F-4D97-AF65-F5344CB8AC3E}">
        <p14:creationId xmlns:p14="http://schemas.microsoft.com/office/powerpoint/2010/main" val="116300636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746539-B7C6-41B4-9693-721192FB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LIMITATIONS</a:t>
            </a:r>
          </a:p>
        </p:txBody>
      </p:sp>
      <p:sp>
        <p:nvSpPr>
          <p:cNvPr id="2" name="a4-title-27">
            <a:extLst xmlns:a="http://schemas.openxmlformats.org/drawingml/2006/main">
              <a:ext uri="{FF2B5EF4-FFF2-40B4-BE49-F238E27FC236}">
                <a16:creationId xmlns:a16="http://schemas.microsoft.com/office/drawing/2014/main" id="{E189F0E5-9E3F-40A1-9B2F-567ECE3E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当前限制必须和已实现能力一起说明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2CDFC2-5032-4CD3-AB74-2E226609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FD38AF-4097-4936-A283-38793118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1A9C9-D35F-4D7A-A2C6-18838020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610AF1-2B84-4F05-89B6-E0237D2C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58483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242B"/>
                </a:solidFill>
              </a:defRPr>
            </a:pPr>
            <a:r>
              <a:rPr sz="1875" b="1">
                <a:solidFill>
                  <a:srgbClr val="25242B"/>
                </a:solidFill>
              </a:rPr>
              <a:t>可信的产品文档既说明能做什么，也说明还没有验证什么。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C72526-A3F1-4B67-9BC6-9791E14E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77932"/>
                </a:solidFill>
              </a:defRPr>
            </a:pPr>
            <a:r>
              <a:rPr sz="1575" b="1">
                <a:solidFill>
                  <a:srgbClr val="C77932"/>
                </a:solidFill>
              </a:rPr>
              <a:t>测试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002A1E-F887-4794-B516-D340B51F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590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2026-07-13 执行 50 个测试，49 个通过；OpenAI-compatible Review 解析测试的测试响应缺少 sourceReferences，但断言期望来源映射。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E526C-8A2F-4C2C-969D-C12FE0F3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625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设备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67550A-48D8-4213-9D9C-92ADF411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00700"/>
            <a:ext cx="590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模拟器构建和启动可验证；当前文档不把真机安装描述为已验证。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B9A839-1EA1-4DC7-AF7D-89998A1E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0675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同步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44316B-4194-4F5A-BD7C-3ECF33F4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505700"/>
            <a:ext cx="590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v0.1 为本地优先单设备数据，没有账号、CloudKit 或冲突解决。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7F272F-C7EE-4E70-A526-0AA9BE4D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9725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1B19FF-EF63-4C1F-AB83-F4AB2CB8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10700"/>
            <a:ext cx="590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AI Review 是可选边界；未配置、请求失败或响应不可解析时使用本地规则。</a:t>
            </a:r>
          </a:p>
        </p:txBody>
      </p:sp>
    </p:spTree>
    <p:extLst>
      <p:ext uri="{BB962C8B-B14F-4D97-AF65-F5344CB8AC3E}">
        <p14:creationId xmlns:p14="http://schemas.microsoft.com/office/powerpoint/2010/main" val="209275606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4F1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76824A-FBC1-476C-86BF-2E8A6291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57D9"/>
                </a:solidFill>
              </a:defRPr>
            </a:pPr>
            <a:r>
              <a:rPr sz="1050" b="1">
                <a:solidFill>
                  <a:srgbClr val="6657D9"/>
                </a:solidFill>
              </a:rPr>
              <a:t>MAINTENANCE</a:t>
            </a:r>
          </a:p>
        </p:txBody>
      </p:sp>
      <p:sp>
        <p:nvSpPr>
          <p:cNvPr id="2" name="a4-title-28">
            <a:extLst xmlns:a="http://schemas.openxmlformats.org/drawingml/2006/main">
              <a:ext uri="{FF2B5EF4-FFF2-40B4-BE49-F238E27FC236}">
                <a16:creationId xmlns:a16="http://schemas.microsoft.com/office/drawing/2014/main" id="{16F48611-CC30-45E2-B8E6-6904F3A0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45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5242B"/>
                </a:solidFill>
              </a:defRPr>
            </a:pPr>
            <a:r>
              <a:rPr sz="2325" b="1">
                <a:solidFill>
                  <a:srgbClr val="25242B"/>
                </a:solidFill>
              </a:rPr>
              <a:t>一套内容源，持续更新三种输出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F9A4CB-E77B-4AC3-B03F-FD741E02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306050"/>
            <a:ext cx="645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4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4AD1AC-D31D-4345-902A-5FD5E313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01300"/>
            <a:ext cx="6457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6C76"/>
                </a:solidFill>
              </a:defRPr>
            </a:pPr>
            <a:r>
              <a:rPr sz="900" b="0">
                <a:solidFill>
                  <a:srgbClr val="6F6C76"/>
                </a:solidFill>
              </a:rPr>
              <a:t>SELF STUDY STUDIO  ·  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790390-A2F7-45BC-A26A-EA8E3EC7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7640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F0CBC5-4A3F-4058-ACD5-376A585B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58483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242B"/>
                </a:solidFill>
              </a:defRPr>
            </a:pPr>
            <a:r>
              <a:rPr sz="1875" b="1">
                <a:solidFill>
                  <a:srgbClr val="25242B"/>
                </a:solidFill>
              </a:rPr>
              <a:t>Markdown 维护产品事实，Mermaid 维护流程，生成器维护 PPTX 与 PDF。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A73174-3D88-4731-A220-2743884C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产品变化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789B09-7695-4366-8BC5-5654FD3A0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先更新 docs/PRODUCT_GUIDE.md 与 content.json；再更新受影响的 Mermaid 和真实截图。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1CAF7-BE52-4C27-83FA-FCEC0906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重新生成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D41356-69D4-4B8A-AB47-38AB2EB9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76900"/>
            <a:ext cx="590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运行 scripts/generate-product-guide.sh，生成 16:9 PPTX、A4 PPTX 与 A4 PDF。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0212B7-B0D8-4BD7-9AB4-36387ADE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247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57D9"/>
                </a:solidFill>
              </a:defRPr>
            </a:pPr>
            <a:r>
              <a:rPr sz="1575" b="1">
                <a:solidFill>
                  <a:srgbClr val="6657D9"/>
                </a:solidFill>
              </a:rPr>
              <a:t>发布前检查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A524E-3905-485D-B387-0D02DD57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562850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逐页检查溢出、遮挡、图片拉伸、断开的流程连接、状态与测试基线。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E7DF76-5B9B-4044-9F20-A652766D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1059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77932"/>
                </a:solidFill>
              </a:defRPr>
            </a:pPr>
            <a:r>
              <a:rPr sz="1575" b="1">
                <a:solidFill>
                  <a:srgbClr val="C77932"/>
                </a:solidFill>
              </a:rPr>
              <a:t>当前基线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4D267-07F8-410B-A675-41E2FC4C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544050"/>
            <a:ext cx="5905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50 tests executed, 49 passed, 1 known assertion failure</a:t>
            </a:r>
          </a:p>
          <a:p xmlns:a="http://schemas.openxmlformats.org/drawingml/2006/main">
            <a:pPr algn="l">
              <a:defRPr sz="1350" b="0">
                <a:solidFill>
                  <a:srgbClr val="25242B"/>
                </a:solidFill>
              </a:defRPr>
            </a:pPr>
            <a:r>
              <a:rPr sz="1350" b="0">
                <a:solidFill>
                  <a:srgbClr val="25242B"/>
                </a:solidFill>
              </a:rPr>
              <a:t>commit a6c707e</a:t>
            </a:r>
          </a:p>
        </p:txBody>
      </p:sp>
    </p:spTree>
    <p:extLst>
      <p:ext uri="{BB962C8B-B14F-4D97-AF65-F5344CB8AC3E}">
        <p14:creationId xmlns:p14="http://schemas.microsoft.com/office/powerpoint/2010/main" val="16860750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2026-07-14T06:20:12.3260000Z</dcterms:created>
  <dcterms:modified xsi:type="dcterms:W3CDTF">2026-07-14T06:20:12.3260000Z</dcterms:modified>
</coreProperties>
</file>