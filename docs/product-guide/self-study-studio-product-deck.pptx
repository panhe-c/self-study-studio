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1a729c72ae42ac" /><Relationship Type="http://schemas.openxmlformats.org/officeDocument/2006/relationships/extended-properties" Target="/docProps/app.xml" Id="R76e33228265f46ec" /><Relationship Type="http://schemas.openxmlformats.org/officeDocument/2006/relationships/officeDocument" Target="/ppt/presentation.xml" Id="R83f52bcd0c2142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0e9cd28ba54c30"/>
  </p:sldMasterIdLst>
  <p:notesMasterIdLst>
    <p:notesMasterId xmlns:r="http://schemas.openxmlformats.org/officeDocument/2006/relationships" r:id="Rb76a25932ca94e2d"/>
  </p:notesMasterIdLst>
  <p:sldIdLst>
    <p:sldId xmlns:r="http://schemas.openxmlformats.org/officeDocument/2006/relationships" id="256" r:id="R794f1e388c024a4d"/>
    <p:sldId xmlns:r="http://schemas.openxmlformats.org/officeDocument/2006/relationships" id="257" r:id="Re3bb024c69224738"/>
    <p:sldId xmlns:r="http://schemas.openxmlformats.org/officeDocument/2006/relationships" id="258" r:id="R22a7f48eff484851"/>
    <p:sldId xmlns:r="http://schemas.openxmlformats.org/officeDocument/2006/relationships" id="259" r:id="Rf4c2422b0fc74140"/>
    <p:sldId xmlns:r="http://schemas.openxmlformats.org/officeDocument/2006/relationships" id="260" r:id="R1184c468f84b41fc"/>
    <p:sldId xmlns:r="http://schemas.openxmlformats.org/officeDocument/2006/relationships" id="261" r:id="Rc378304f98af46d9"/>
    <p:sldId xmlns:r="http://schemas.openxmlformats.org/officeDocument/2006/relationships" id="262" r:id="R1122379f93724ccf"/>
    <p:sldId xmlns:r="http://schemas.openxmlformats.org/officeDocument/2006/relationships" id="263" r:id="Re843ed740b384b5a"/>
    <p:sldId xmlns:r="http://schemas.openxmlformats.org/officeDocument/2006/relationships" id="264" r:id="Rfa3aa543bdd34fef"/>
    <p:sldId xmlns:r="http://schemas.openxmlformats.org/officeDocument/2006/relationships" id="265" r:id="R34594b61b13a40d9"/>
    <p:sldId xmlns:r="http://schemas.openxmlformats.org/officeDocument/2006/relationships" id="266" r:id="R513e7c1ce688493c"/>
    <p:sldId xmlns:r="http://schemas.openxmlformats.org/officeDocument/2006/relationships" id="267" r:id="Rb8a5729778aa48d1"/>
    <p:sldId xmlns:r="http://schemas.openxmlformats.org/officeDocument/2006/relationships" id="268" r:id="Rb623b1a4fbb94124"/>
    <p:sldId xmlns:r="http://schemas.openxmlformats.org/officeDocument/2006/relationships" id="269" r:id="R2b9fcf0d102b4c34"/>
    <p:sldId xmlns:r="http://schemas.openxmlformats.org/officeDocument/2006/relationships" id="270" r:id="Rfcbbd08fa6974c2f"/>
    <p:sldId xmlns:r="http://schemas.openxmlformats.org/officeDocument/2006/relationships" id="271" r:id="Rd72031bd4e544b8f"/>
    <p:sldId xmlns:r="http://schemas.openxmlformats.org/officeDocument/2006/relationships" id="272" r:id="Rf7d5366dae904662"/>
    <p:sldId xmlns:r="http://schemas.openxmlformats.org/officeDocument/2006/relationships" id="273" r:id="R39c41ce19617409d"/>
    <p:sldId xmlns:r="http://schemas.openxmlformats.org/officeDocument/2006/relationships" id="274" r:id="R69ae19456e6c40bf"/>
    <p:sldId xmlns:r="http://schemas.openxmlformats.org/officeDocument/2006/relationships" id="275" r:id="Rfa4ace82443e44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050b92abdb49ea" /><Relationship Type="http://schemas.openxmlformats.org/officeDocument/2006/relationships/slideMaster" Target="/ppt/slideMasters/slideMaster1.xml" Id="R560e9cd28ba54c30" /><Relationship Type="http://schemas.openxmlformats.org/officeDocument/2006/relationships/notesMaster" Target="/ppt/notesMasters/notesMaster1.xml" Id="Rb76a25932ca94e2d" /><Relationship Type="http://schemas.openxmlformats.org/officeDocument/2006/relationships/presProps" Target="/ppt/presProps.xml" Id="R536a3835c1ca421f" /><Relationship Type="http://schemas.openxmlformats.org/officeDocument/2006/relationships/tableStyles" Target="/ppt/tableStyles.xml" Id="Rabd6c49c833544bf" /><Relationship Type="http://schemas.openxmlformats.org/officeDocument/2006/relationships/slide" Target="/ppt/slides/slide1.xml" Id="R794f1e388c024a4d" /><Relationship Type="http://schemas.openxmlformats.org/officeDocument/2006/relationships/slide" Target="/ppt/slides/slide2.xml" Id="Re3bb024c69224738" /><Relationship Type="http://schemas.openxmlformats.org/officeDocument/2006/relationships/slide" Target="/ppt/slides/slide3.xml" Id="R22a7f48eff484851" /><Relationship Type="http://schemas.openxmlformats.org/officeDocument/2006/relationships/slide" Target="/ppt/slides/slide4.xml" Id="Rf4c2422b0fc74140" /><Relationship Type="http://schemas.openxmlformats.org/officeDocument/2006/relationships/slide" Target="/ppt/slides/slide5.xml" Id="R1184c468f84b41fc" /><Relationship Type="http://schemas.openxmlformats.org/officeDocument/2006/relationships/slide" Target="/ppt/slides/slide6.xml" Id="Rc378304f98af46d9" /><Relationship Type="http://schemas.openxmlformats.org/officeDocument/2006/relationships/slide" Target="/ppt/slides/slide7.xml" Id="R1122379f93724ccf" /><Relationship Type="http://schemas.openxmlformats.org/officeDocument/2006/relationships/slide" Target="/ppt/slides/slide8.xml" Id="Re843ed740b384b5a" /><Relationship Type="http://schemas.openxmlformats.org/officeDocument/2006/relationships/slide" Target="/ppt/slides/slide9.xml" Id="Rfa3aa543bdd34fef" /><Relationship Type="http://schemas.openxmlformats.org/officeDocument/2006/relationships/slide" Target="/ppt/slides/slide10.xml" Id="R34594b61b13a40d9" /><Relationship Type="http://schemas.openxmlformats.org/officeDocument/2006/relationships/slide" Target="/ppt/slides/slide11.xml" Id="R513e7c1ce688493c" /><Relationship Type="http://schemas.openxmlformats.org/officeDocument/2006/relationships/slide" Target="/ppt/slides/slide12.xml" Id="Rb8a5729778aa48d1" /><Relationship Type="http://schemas.openxmlformats.org/officeDocument/2006/relationships/slide" Target="/ppt/slides/slide13.xml" Id="Rb623b1a4fbb94124" /><Relationship Type="http://schemas.openxmlformats.org/officeDocument/2006/relationships/slide" Target="/ppt/slides/slide14.xml" Id="R2b9fcf0d102b4c34" /><Relationship Type="http://schemas.openxmlformats.org/officeDocument/2006/relationships/slide" Target="/ppt/slides/slide15.xml" Id="Rfcbbd08fa6974c2f" /><Relationship Type="http://schemas.openxmlformats.org/officeDocument/2006/relationships/slide" Target="/ppt/slides/slide16.xml" Id="Rd72031bd4e544b8f" /><Relationship Type="http://schemas.openxmlformats.org/officeDocument/2006/relationships/slide" Target="/ppt/slides/slide17.xml" Id="Rf7d5366dae904662" /><Relationship Type="http://schemas.openxmlformats.org/officeDocument/2006/relationships/slide" Target="/ppt/slides/slide18.xml" Id="R39c41ce19617409d" /><Relationship Type="http://schemas.openxmlformats.org/officeDocument/2006/relationships/slide" Target="/ppt/slides/slide19.xml" Id="R69ae19456e6c40bf" /><Relationship Type="http://schemas.openxmlformats.org/officeDocument/2006/relationships/slide" Target="/ppt/slides/slide20.xml" Id="Rfa4ace82443e44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601d57456f45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15b422c9d548d8" /><Relationship Type="http://schemas.openxmlformats.org/officeDocument/2006/relationships/notesMaster" Target="/ppt/notesMasters/notesMaster1.xml" Id="Ra36d72e5f9b44d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a613d37a3a4d56" /><Relationship Type="http://schemas.openxmlformats.org/officeDocument/2006/relationships/notesMaster" Target="/ppt/notesMasters/notesMaster1.xml" Id="Rb8aef338a8aa4e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80e5a7019e4bcb" /><Relationship Type="http://schemas.openxmlformats.org/officeDocument/2006/relationships/notesMaster" Target="/ppt/notesMasters/notesMaster1.xml" Id="R63fca5ac44a741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52a70f9e2245da" /><Relationship Type="http://schemas.openxmlformats.org/officeDocument/2006/relationships/notesMaster" Target="/ppt/notesMasters/notesMaster1.xml" Id="R5d2b291f4d7249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b0c78297024116" /><Relationship Type="http://schemas.openxmlformats.org/officeDocument/2006/relationships/notesMaster" Target="/ppt/notesMasters/notesMaster1.xml" Id="R025f4631973445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67d5a7bd1547af" /><Relationship Type="http://schemas.openxmlformats.org/officeDocument/2006/relationships/notesMaster" Target="/ppt/notesMasters/notesMaster1.xml" Id="Radaaaa28d3dd4f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148edeaf8a4cdb" /><Relationship Type="http://schemas.openxmlformats.org/officeDocument/2006/relationships/notesMaster" Target="/ppt/notesMasters/notesMaster1.xml" Id="R87789604770e4e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73bb279c864bbf" /><Relationship Type="http://schemas.openxmlformats.org/officeDocument/2006/relationships/notesMaster" Target="/ppt/notesMasters/notesMaster1.xml" Id="R0c9b027479b942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16f8200fc14426" /><Relationship Type="http://schemas.openxmlformats.org/officeDocument/2006/relationships/notesMaster" Target="/ppt/notesMasters/notesMaster1.xml" Id="R141795d5874044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d388bbff034824" /><Relationship Type="http://schemas.openxmlformats.org/officeDocument/2006/relationships/notesMaster" Target="/ppt/notesMasters/notesMaster1.xml" Id="R7d8a11b8b32f4a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963ad0b9ad4d68" /><Relationship Type="http://schemas.openxmlformats.org/officeDocument/2006/relationships/notesMaster" Target="/ppt/notesMasters/notesMaster1.xml" Id="R50d4d9f6bd0e44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c21d7cac054559" /><Relationship Type="http://schemas.openxmlformats.org/officeDocument/2006/relationships/notesMaster" Target="/ppt/notesMasters/notesMaster1.xml" Id="Rd1eb60024a9945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925363409542d3" /><Relationship Type="http://schemas.openxmlformats.org/officeDocument/2006/relationships/notesMaster" Target="/ppt/notesMasters/notesMaster1.xml" Id="R8272cc8c757247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3f7aa00cf0458f" /><Relationship Type="http://schemas.openxmlformats.org/officeDocument/2006/relationships/notesMaster" Target="/ppt/notesMasters/notesMaster1.xml" Id="Rfe61b3ce09e447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27b08791c043fb" /><Relationship Type="http://schemas.openxmlformats.org/officeDocument/2006/relationships/notesMaster" Target="/ppt/notesMasters/notesMaster1.xml" Id="R551d7c760f5d46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cd6c7ec5124c7c" /><Relationship Type="http://schemas.openxmlformats.org/officeDocument/2006/relationships/notesMaster" Target="/ppt/notesMasters/notesMaster1.xml" Id="R74024d7b8c364bd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86e79b86a84d9c" /><Relationship Type="http://schemas.openxmlformats.org/officeDocument/2006/relationships/notesMaster" Target="/ppt/notesMasters/notesMaster1.xml" Id="Re1868851ab2b4e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435c04784147de" /><Relationship Type="http://schemas.openxmlformats.org/officeDocument/2006/relationships/notesMaster" Target="/ppt/notesMasters/notesMaster1.xml" Id="R547413c24e16420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32a9d9599d94a03" /><Relationship Type="http://schemas.openxmlformats.org/officeDocument/2006/relationships/notesMaster" Target="/ppt/notesMasters/notesMaster1.xml" Id="R65d1eaf82a794b9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ce3614f93d4ddd" /><Relationship Type="http://schemas.openxmlformats.org/officeDocument/2006/relationships/notesMaster" Target="/ppt/notesMasters/notesMaster1.xml" Id="Rce5fef05260049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80c2213f946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d4d73dbf234b9b" /><Relationship Type="http://schemas.openxmlformats.org/officeDocument/2006/relationships/slideLayout" Target="/ppt/slideLayouts/slideLayout1.xml" Id="R17922994febc47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922994febc47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6e67a25354d47" /><Relationship Type="http://schemas.openxmlformats.org/officeDocument/2006/relationships/notesSlide" Target="/ppt/notesSlides/notesSlide1.xml" Id="R84d89120d2094e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98a6608eb43b3" /><Relationship Type="http://schemas.openxmlformats.org/officeDocument/2006/relationships/notesSlide" Target="/ppt/notesSlides/notesSlide2.xml" Id="Re774f7a6b62844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cf61ee0e9463e" /><Relationship Type="http://schemas.openxmlformats.org/officeDocument/2006/relationships/image" Target="/ppt/media/image.png" Id="R029ca8447b904bca" /><Relationship Type="http://schemas.openxmlformats.org/officeDocument/2006/relationships/notesSlide" Target="/ppt/notesSlides/notesSlide3.xml" Id="Rdd42918867b04e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cdbffd04245dd" /><Relationship Type="http://schemas.openxmlformats.org/officeDocument/2006/relationships/notesSlide" Target="/ppt/notesSlides/notesSlide4.xml" Id="R5a28e54a1c2c45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f5c98b5004447" /><Relationship Type="http://schemas.openxmlformats.org/officeDocument/2006/relationships/notesSlide" Target="/ppt/notesSlides/notesSlide5.xml" Id="R1950e6e61b7044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2c6a177044db8" /><Relationship Type="http://schemas.openxmlformats.org/officeDocument/2006/relationships/image" Target="/ppt/media/image2.png" Id="R02a3b2c97878475d" /><Relationship Type="http://schemas.openxmlformats.org/officeDocument/2006/relationships/notesSlide" Target="/ppt/notesSlides/notesSlide6.xml" Id="R0a4c106df37543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55b619b7a43f6" /><Relationship Type="http://schemas.openxmlformats.org/officeDocument/2006/relationships/image" Target="/ppt/media/image3.png" Id="R5027a3d26f154fc0" /><Relationship Type="http://schemas.openxmlformats.org/officeDocument/2006/relationships/notesSlide" Target="/ppt/notesSlides/notesSlide7.xml" Id="R655451dece9c41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ee757b19a4d09" /><Relationship Type="http://schemas.openxmlformats.org/officeDocument/2006/relationships/image" Target="/ppt/media/image4.png" Id="R19b7794006b34034" /><Relationship Type="http://schemas.openxmlformats.org/officeDocument/2006/relationships/notesSlide" Target="/ppt/notesSlides/notesSlide8.xml" Id="R6ffb7f83e7ec4f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3da83c1b743ce" /><Relationship Type="http://schemas.openxmlformats.org/officeDocument/2006/relationships/image" Target="/ppt/media/image5.png" Id="R13b17196a80a422a" /><Relationship Type="http://schemas.openxmlformats.org/officeDocument/2006/relationships/notesSlide" Target="/ppt/notesSlides/notesSlide9.xml" Id="R17888c1041b541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055bc645045af" /><Relationship Type="http://schemas.openxmlformats.org/officeDocument/2006/relationships/image" Target="/ppt/media/image6.png" Id="R41da4a00e55e40c0" /><Relationship Type="http://schemas.openxmlformats.org/officeDocument/2006/relationships/image" Target="/ppt/media/image7.png" Id="R7a904129b32c4215" /><Relationship Type="http://schemas.openxmlformats.org/officeDocument/2006/relationships/image" Target="/ppt/media/image8.png" Id="R63c592b6eab746bd" /><Relationship Type="http://schemas.openxmlformats.org/officeDocument/2006/relationships/notesSlide" Target="/ppt/notesSlides/notesSlide10.xml" Id="R21d99502a9df4c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d5c7d47974de6" /><Relationship Type="http://schemas.openxmlformats.org/officeDocument/2006/relationships/image" Target="/ppt/media/image9.png" Id="R00fdcebca5ea4dba" /><Relationship Type="http://schemas.openxmlformats.org/officeDocument/2006/relationships/notesSlide" Target="/ppt/notesSlides/notesSlide11.xml" Id="R2da3e2edde1347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0807231444187" /><Relationship Type="http://schemas.openxmlformats.org/officeDocument/2006/relationships/image" Target="/ppt/media/image10.png" Id="R2cbdaa02fb90472b" /><Relationship Type="http://schemas.openxmlformats.org/officeDocument/2006/relationships/notesSlide" Target="/ppt/notesSlides/notesSlide12.xml" Id="R02f876a40b0642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83bb3a3fa41e4" /><Relationship Type="http://schemas.openxmlformats.org/officeDocument/2006/relationships/image" Target="/ppt/media/image11.png" Id="R9c856f641f58443f" /><Relationship Type="http://schemas.openxmlformats.org/officeDocument/2006/relationships/image" Target="/ppt/media/image12.png" Id="Rb582121720b84cc4" /><Relationship Type="http://schemas.openxmlformats.org/officeDocument/2006/relationships/notesSlide" Target="/ppt/notesSlides/notesSlide13.xml" Id="R006f288f7fab4a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6180a065f4d15" /><Relationship Type="http://schemas.openxmlformats.org/officeDocument/2006/relationships/image" Target="/ppt/media/image13.png" Id="R2934e8d9e8bd48e9" /><Relationship Type="http://schemas.openxmlformats.org/officeDocument/2006/relationships/notesSlide" Target="/ppt/notesSlides/notesSlide14.xml" Id="R92235b539aa845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f8f77baa14f60" /><Relationship Type="http://schemas.openxmlformats.org/officeDocument/2006/relationships/image" Target="/ppt/media/image14.png" Id="R588877b64bdd49cf" /><Relationship Type="http://schemas.openxmlformats.org/officeDocument/2006/relationships/image" Target="/ppt/media/image15.png" Id="Ra9807bb934624364" /><Relationship Type="http://schemas.openxmlformats.org/officeDocument/2006/relationships/notesSlide" Target="/ppt/notesSlides/notesSlide15.xml" Id="R8fcc0a9012354d5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a8218c6814de9" /><Relationship Type="http://schemas.openxmlformats.org/officeDocument/2006/relationships/image" Target="/ppt/media/image16.png" Id="Rdf94d79fc9564cfb" /><Relationship Type="http://schemas.openxmlformats.org/officeDocument/2006/relationships/notesSlide" Target="/ppt/notesSlides/notesSlide16.xml" Id="R2b139bf3e63e422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a11a502404059" /><Relationship Type="http://schemas.openxmlformats.org/officeDocument/2006/relationships/image" Target="/ppt/media/image17.png" Id="R854fc372b5294aed" /><Relationship Type="http://schemas.openxmlformats.org/officeDocument/2006/relationships/image" Target="/ppt/media/image18.png" Id="R007d4a5da6554a80" /><Relationship Type="http://schemas.openxmlformats.org/officeDocument/2006/relationships/notesSlide" Target="/ppt/notesSlides/notesSlide17.xml" Id="Rf451c9df6b204f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a7224fced4f08" /><Relationship Type="http://schemas.openxmlformats.org/officeDocument/2006/relationships/image" Target="/ppt/media/image19.png" Id="R061a6647e38645dd" /><Relationship Type="http://schemas.openxmlformats.org/officeDocument/2006/relationships/notesSlide" Target="/ppt/notesSlides/notesSlide18.xml" Id="Re6f22cf84f034c7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ac70624be4218" /><Relationship Type="http://schemas.openxmlformats.org/officeDocument/2006/relationships/notesSlide" Target="/ppt/notesSlides/notesSlide19.xml" Id="R425367a68f5542d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ef66f0add419f" /><Relationship Type="http://schemas.openxmlformats.org/officeDocument/2006/relationships/notesSlide" Target="/ppt/notesSlides/notesSlide20.xml" Id="R4bc30593b50a4f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086A4-1DDA-45D4-A691-ACD9CD45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57D9"/>
                </a:solidFill>
              </a:defRPr>
            </a:pPr>
            <a:r>
              <a:rPr sz="1350" b="1">
                <a:solidFill>
                  <a:srgbClr val="6657D9"/>
                </a:solidFill>
              </a:rPr>
              <a:t>SELF STUDY STUDIO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5621CEE-2BD7-48FA-B2D4-DDEBB696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5242B"/>
                </a:solidFill>
              </a:defRPr>
            </a:pPr>
            <a:r>
              <a:rPr sz="4650" b="1">
                <a:solidFill>
                  <a:srgbClr val="25242B"/>
                </a:solidFill>
              </a:rPr>
              <a:t>学习记录的目的，</a:t>
            </a:r>
          </a:p>
          <a:p xmlns:a="http://schemas.openxmlformats.org/drawingml/2006/main">
            <a:pPr algn="l">
              <a:defRPr sz="4650" b="1">
                <a:solidFill>
                  <a:srgbClr val="25242B"/>
                </a:solidFill>
              </a:defRPr>
            </a:pPr>
            <a:r>
              <a:rPr sz="4650" b="1">
                <a:solidFill>
                  <a:srgbClr val="25242B"/>
                </a:solidFill>
              </a:rPr>
              <a:t>是决定下一步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BC0BC-5C0B-42AF-A0E3-F9F902D5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F6C76"/>
                </a:solidFill>
              </a:defRPr>
            </a:pPr>
            <a:r>
              <a:rPr sz="1950" b="0">
                <a:solidFill>
                  <a:srgbClr val="6F6C76"/>
                </a:solidFill>
              </a:rPr>
              <a:t>一个帮助个人学习者把行动、证据和复盘串成下一步决定的学习日志，并把同一份 Journal 连接到 iPhone 与 Web Workspace。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E2340-F222-4BEC-9B85-F24FA0BD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47750"/>
            <a:ext cx="2381250" cy="4286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E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E350F-83EA-4FCC-8977-7A302415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09700"/>
            <a:ext cx="18478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657D9"/>
                </a:solidFill>
              </a:defRPr>
            </a:pPr>
            <a:r>
              <a:rPr sz="2175" b="1">
                <a:solidFill>
                  <a:srgbClr val="6657D9"/>
                </a:solidFill>
              </a:rPr>
              <a:t>Project</a:t>
            </a:r>
          </a:p>
          <a:p xmlns:a="http://schemas.openxmlformats.org/drawingml/2006/main">
            <a:pPr algn="ctr">
              <a:defRPr sz="2175" b="1">
                <a:solidFill>
                  <a:srgbClr val="6657D9"/>
                </a:solidFill>
              </a:defRPr>
            </a:pPr>
            <a:r>
              <a:rPr sz="2175" b="1">
                <a:solidFill>
                  <a:srgbClr val="6657D9"/>
                </a:solidFill>
              </a:rPr>
              <a:t>↓</a:t>
            </a:r>
          </a:p>
          <a:p xmlns:a="http://schemas.openxmlformats.org/drawingml/2006/main">
            <a:pPr algn="ctr">
              <a:defRPr sz="2175" b="1">
                <a:solidFill>
                  <a:srgbClr val="6657D9"/>
                </a:solidFill>
              </a:defRPr>
            </a:pPr>
            <a:r>
              <a:rPr sz="2175" b="1">
                <a:solidFill>
                  <a:srgbClr val="6657D9"/>
                </a:solidFill>
              </a:rPr>
              <a:t>Session</a:t>
            </a:r>
          </a:p>
          <a:p xmlns:a="http://schemas.openxmlformats.org/drawingml/2006/main">
            <a:pPr algn="ctr">
              <a:defRPr sz="2175" b="1">
                <a:solidFill>
                  <a:srgbClr val="6657D9"/>
                </a:solidFill>
              </a:defRPr>
            </a:pPr>
            <a:r>
              <a:rPr sz="2175" b="1">
                <a:solidFill>
                  <a:srgbClr val="6657D9"/>
                </a:solidFill>
              </a:rPr>
              <a:t>↓</a:t>
            </a:r>
          </a:p>
          <a:p xmlns:a="http://schemas.openxmlformats.org/drawingml/2006/main">
            <a:pPr algn="ctr">
              <a:defRPr sz="2175" b="1">
                <a:solidFill>
                  <a:srgbClr val="6657D9"/>
                </a:solidFill>
              </a:defRPr>
            </a:pPr>
            <a:r>
              <a:rPr sz="2175" b="1">
                <a:solidFill>
                  <a:srgbClr val="6657D9"/>
                </a:solidFill>
              </a:rPr>
              <a:t>Proof</a:t>
            </a:r>
          </a:p>
          <a:p xmlns:a="http://schemas.openxmlformats.org/drawingml/2006/main">
            <a:pPr algn="ctr">
              <a:defRPr sz="2175" b="1">
                <a:solidFill>
                  <a:srgbClr val="6657D9"/>
                </a:solidFill>
              </a:defRPr>
            </a:pPr>
            <a:r>
              <a:rPr sz="2175" b="1">
                <a:solidFill>
                  <a:srgbClr val="6657D9"/>
                </a:solidFill>
              </a:rPr>
              <a:t>↓</a:t>
            </a:r>
          </a:p>
          <a:p xmlns:a="http://schemas.openxmlformats.org/drawingml/2006/main">
            <a:pPr algn="ctr">
              <a:defRPr sz="2175" b="1">
                <a:solidFill>
                  <a:srgbClr val="6657D9"/>
                </a:solidFill>
              </a:defRPr>
            </a:pPr>
            <a:r>
              <a:rPr sz="2175" b="1">
                <a:solidFill>
                  <a:srgbClr val="6657D9"/>
                </a:solidFill>
              </a:rPr>
              <a:t>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D182F-CD43-4507-AA0A-801769C7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产品功能说明 · v1.3 · 2026-08-09</a:t>
            </a:r>
          </a:p>
        </p:txBody>
      </p:sp>
    </p:spTree>
    <p:extLst>
      <p:ext uri="{BB962C8B-B14F-4D97-AF65-F5344CB8AC3E}">
        <p14:creationId xmlns:p14="http://schemas.microsoft.com/office/powerpoint/2010/main" val="635023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8C4F0-777C-4297-8555-02027D03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WHY</a:t>
            </a:r>
          </a:p>
        </p:txBody>
      </p:sp>
      <p:sp>
        <p:nvSpPr>
          <p:cNvPr id="2" name="wide-title-2">
            <a:extLst xmlns:a="http://schemas.openxmlformats.org/drawingml/2006/main">
              <a:ext uri="{FF2B5EF4-FFF2-40B4-BE49-F238E27FC236}">
                <a16:creationId xmlns:a16="http://schemas.microsoft.com/office/drawing/2014/main" id="{8574F945-A734-4DCC-93B6-720CFA9D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零散记录无法自动变成下一步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723EB-335D-4192-9F84-77908AF7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23292-245F-40A4-9632-74FB9FF9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F481B-E9C6-4B0C-B4A3-3F918119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714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42B"/>
                </a:solidFill>
              </a:defRPr>
            </a:pPr>
            <a:r>
              <a:rPr sz="2250" b="1">
                <a:solidFill>
                  <a:srgbClr val="25242B"/>
                </a:solidFill>
              </a:rPr>
              <a:t>真正缺少的不是更多笔记，而是能支持下一次行动的学习轨迹。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479AD-8D8B-49D3-9109-AEB89EFA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57D9"/>
                </a:solidFill>
              </a:defRPr>
            </a:pPr>
            <a:r>
              <a:rPr sz="1800" b="1">
                <a:solidFill>
                  <a:srgbClr val="6657D9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0A0E9-578C-447D-8B44-AFAD9A3C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146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42B"/>
                </a:solidFill>
              </a:defRPr>
            </a:pPr>
            <a:r>
              <a:rPr sz="2100" b="1">
                <a:solidFill>
                  <a:srgbClr val="25242B"/>
                </a:solidFill>
              </a:rPr>
              <a:t>这周真正做了什么？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2A4E4-6193-4075-A5C0-35FDA65A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57D9"/>
                </a:solidFill>
              </a:defRPr>
            </a:pPr>
            <a:r>
              <a:rPr sz="1800" b="1">
                <a:solidFill>
                  <a:srgbClr val="665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E2DEE-0DE6-4A4E-A85C-7A77FCCB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00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42B"/>
                </a:solidFill>
              </a:defRPr>
            </a:pPr>
            <a:r>
              <a:rPr sz="2100" b="1">
                <a:solidFill>
                  <a:srgbClr val="25242B"/>
                </a:solidFill>
              </a:rPr>
              <a:t>哪些结果能证明学习发生了？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3DF2E-3971-4120-A236-31B1F253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57D9"/>
                </a:solidFill>
              </a:defRPr>
            </a:pPr>
            <a:r>
              <a:rPr sz="1800" b="1">
                <a:solidFill>
                  <a:srgbClr val="6657D9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56A42-8D66-4E37-97F5-F3DB18DF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053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42B"/>
                </a:solidFill>
              </a:defRPr>
            </a:pPr>
            <a:r>
              <a:rPr sz="2100" b="1">
                <a:solidFill>
                  <a:srgbClr val="25242B"/>
                </a:solidFill>
              </a:rPr>
              <a:t>下一次打开项目时应该做什么？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07608-9634-4561-969B-82339A09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766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657D9"/>
                </a:solidFill>
              </a:defRPr>
            </a:pPr>
            <a:r>
              <a:rPr sz="1875" b="1">
                <a:solidFill>
                  <a:srgbClr val="6657D9"/>
                </a:solidFill>
              </a:rPr>
              <a:t>产品回答：Next Step → Session → Proof → Review</a:t>
            </a:r>
          </a:p>
        </p:txBody>
      </p:sp>
    </p:spTree>
    <p:extLst>
      <p:ext uri="{BB962C8B-B14F-4D97-AF65-F5344CB8AC3E}">
        <p14:creationId xmlns:p14="http://schemas.microsoft.com/office/powerpoint/2010/main" val="1786328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EFA0F-66C0-4340-A3F1-4D798C94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CORE LOOP</a:t>
            </a:r>
          </a:p>
        </p:txBody>
      </p:sp>
      <p:sp>
        <p:nvSpPr>
          <p:cNvPr id="2" name="wide-title-3">
            <a:extLst xmlns:a="http://schemas.openxmlformats.org/drawingml/2006/main">
              <a:ext uri="{FF2B5EF4-FFF2-40B4-BE49-F238E27FC236}">
                <a16:creationId xmlns:a16="http://schemas.microsoft.com/office/drawing/2014/main" id="{1E8C7300-2CAA-4082-B777-793B95C9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行动、证据和复盘形成一个闭环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120F8-0B48-4F4A-A505-1AE4FEB9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A8049-C444-4698-AEF8-C3D041B4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ca8447b904bca"/>
          <a:stretch xmlns:a="http://schemas.openxmlformats.org/drawingml/2006/main"/>
        </p:blipFill>
        <p:spPr>
          <a:xfrm xmlns:a="http://schemas.openxmlformats.org/drawingml/2006/main">
            <a:off x="933450" y="3079319"/>
            <a:ext cx="10325100" cy="123276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79CB3-E909-4D2E-9F37-3CAED465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29300"/>
            <a:ext cx="1032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Quick Log 与 Timer 都生成 Session；Review 只有在用户确认后才改变 Project。</a:t>
            </a:r>
          </a:p>
        </p:txBody>
      </p:sp>
    </p:spTree>
    <p:extLst>
      <p:ext uri="{BB962C8B-B14F-4D97-AF65-F5344CB8AC3E}">
        <p14:creationId xmlns:p14="http://schemas.microsoft.com/office/powerpoint/2010/main" val="14039992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DC140-3FF0-4415-9630-5BDABDFB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PRINCIPLES</a:t>
            </a:r>
          </a:p>
        </p:txBody>
      </p:sp>
      <p:sp>
        <p:nvSpPr>
          <p:cNvPr id="2" name="wide-title-4">
            <a:extLst xmlns:a="http://schemas.openxmlformats.org/drawingml/2006/main">
              <a:ext uri="{FF2B5EF4-FFF2-40B4-BE49-F238E27FC236}">
                <a16:creationId xmlns:a16="http://schemas.microsoft.com/office/drawing/2014/main" id="{1B36C492-D67A-48C7-82DA-6CD04375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六条原则让记录保持低摩擦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AE6C3-6BCF-491B-AA06-A30B1140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1AA18-1982-4ABB-9663-EEA9633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A76ED-594D-4930-AE06-1A68EBCB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43100"/>
            <a:ext cx="470535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42B"/>
                </a:solidFill>
              </a:defRPr>
            </a:pPr>
            <a:r>
              <a:rPr sz="1875" b="0">
                <a:solidFill>
                  <a:srgbClr val="25242B"/>
                </a:solidFill>
              </a:rPr>
              <a:t>手机优先，入口少而短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B136C-9FB1-4E6A-8BB8-E2C46ADE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16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592FF-44DE-4383-A9BA-F39190E3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40050"/>
            <a:ext cx="470535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42B"/>
                </a:solidFill>
              </a:defRPr>
            </a:pPr>
            <a:r>
              <a:rPr sz="1875" b="0">
                <a:solidFill>
                  <a:srgbClr val="25242B"/>
                </a:solidFill>
              </a:rPr>
              <a:t>继续学习优先于整理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CB310-851E-4717-A29C-184C809D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3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B633C-562E-4792-AFC4-676B0B6E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37000"/>
            <a:ext cx="470535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42B"/>
                </a:solidFill>
              </a:defRPr>
            </a:pPr>
            <a:r>
              <a:rPr sz="1875" b="0">
                <a:solidFill>
                  <a:srgbClr val="25242B"/>
                </a:solidFill>
              </a:rPr>
              <a:t>Proof 比完成百分比更重要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2E780-F6A6-4149-AF3D-98E4382F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478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CAC2A-60FE-4B7F-92E7-EAC48D0D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19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8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99D0C-03DB-4D8F-AAD5-BE07090F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43100"/>
            <a:ext cx="44196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42B"/>
                </a:solidFill>
              </a:defRPr>
            </a:pPr>
            <a:r>
              <a:rPr sz="1875" b="0">
                <a:solidFill>
                  <a:srgbClr val="25242B"/>
                </a:solidFill>
              </a:rPr>
              <a:t>日常记录与阶段判断分离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6F2BFA-A6B1-4109-AA17-569417F1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16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8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E74BF-3FB4-4389-AAFD-85E0FAE1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40050"/>
            <a:ext cx="44196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42B"/>
                </a:solidFill>
              </a:defRPr>
            </a:pPr>
            <a:r>
              <a:rPr sz="1875" b="0">
                <a:solidFill>
                  <a:srgbClr val="25242B"/>
                </a:solidFill>
              </a:rPr>
              <a:t>AI 不进入日常主流程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16A74-4D91-4E98-A729-41E8E521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3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8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08D96-3ED5-4018-A651-10D46CAD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37000"/>
            <a:ext cx="44196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42B"/>
                </a:solidFill>
              </a:defRPr>
            </a:pPr>
            <a:r>
              <a:rPr sz="1875" b="0">
                <a:solidFill>
                  <a:srgbClr val="25242B"/>
                </a:solidFill>
              </a:rPr>
              <a:t>本地优先，数据可以带走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758299-A426-4A02-BDC7-98456586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57D9"/>
                </a:solidFill>
              </a:defRPr>
            </a:pPr>
            <a:r>
              <a:rPr sz="2100" b="1">
                <a:solidFill>
                  <a:srgbClr val="6657D9"/>
                </a:solidFill>
              </a:rPr>
              <a:t>减少维护负担，保留决策价值。</a:t>
            </a:r>
          </a:p>
        </p:txBody>
      </p:sp>
    </p:spTree>
    <p:extLst>
      <p:ext uri="{BB962C8B-B14F-4D97-AF65-F5344CB8AC3E}">
        <p14:creationId xmlns:p14="http://schemas.microsoft.com/office/powerpoint/2010/main" val="1082303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F22355-77D1-4EF6-8311-E63D4EA2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LANGUAGE</a:t>
            </a:r>
          </a:p>
        </p:txBody>
      </p:sp>
      <p:sp>
        <p:nvSpPr>
          <p:cNvPr id="2" name="wide-title-5">
            <a:extLst xmlns:a="http://schemas.openxmlformats.org/drawingml/2006/main">
              <a:ext uri="{FF2B5EF4-FFF2-40B4-BE49-F238E27FC236}">
                <a16:creationId xmlns:a16="http://schemas.microsoft.com/office/drawing/2014/main" id="{7156160D-FE2C-4F74-ACA0-22A341E1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六个概念各自承担一种产品责任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2BA67-BA18-494F-A8AA-D07EEB5F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E8FF9-8AF1-4003-A7F8-54553838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242B"/>
                </a:solidFill>
              </a:defRPr>
            </a:pPr>
            <a:r>
              <a:rPr sz="1800" b="1">
                <a:solidFill>
                  <a:srgbClr val="25242B"/>
                </a:solidFill>
              </a:rPr>
              <a:t>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034A9-2D04-4020-8EBF-C26DA7EF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466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C76"/>
                </a:solidFill>
              </a:defRPr>
            </a:pPr>
            <a:r>
              <a:rPr sz="1350" b="0">
                <a:solidFill>
                  <a:srgbClr val="6F6C76"/>
                </a:solidFill>
              </a:rPr>
              <a:t>一个持续学习目标及其当前生命周期状态；Archive 与 Permanent Deletion 分开。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D2AD7-B4B1-45F7-BBE9-70157C88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1907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9D4CB"/>
                </a:solidFill>
              </a:defRPr>
            </a:pPr>
            <a:r>
              <a:rPr sz="1800" b="0">
                <a:solidFill>
                  <a:srgbClr val="D9D4C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7D2F5-370F-4F24-914B-DB38E564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5265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57D9"/>
                </a:solidFill>
              </a:defRPr>
            </a:pPr>
            <a:r>
              <a:rPr sz="1800" b="1">
                <a:solidFill>
                  <a:srgbClr val="6657D9"/>
                </a:solidFill>
              </a:rPr>
              <a:t>Next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D3886-777F-44FB-BD5B-BA929A1A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43200"/>
            <a:ext cx="1600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C76"/>
                </a:solidFill>
              </a:defRPr>
            </a:pPr>
            <a:r>
              <a:rPr sz="1350" b="0">
                <a:solidFill>
                  <a:srgbClr val="6F6C76"/>
                </a:solidFill>
              </a:rPr>
              <a:t>下一次打开 iPhone 或 Web Workspace 时可以直接执行的具体动作。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AB1C1-1E95-4659-A32C-7B06FC84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907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9D4CB"/>
                </a:solidFill>
              </a:defRPr>
            </a:pPr>
            <a:r>
              <a:rPr sz="1800" b="0">
                <a:solidFill>
                  <a:srgbClr val="D9D4C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16CCF-B286-40F1-82CE-C58DD626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242B"/>
                </a:solidFill>
              </a:defRPr>
            </a:pPr>
            <a:r>
              <a:rPr sz="1800" b="1">
                <a:solidFill>
                  <a:srgbClr val="25242B"/>
                </a:solidFill>
              </a:rPr>
              <a:t>Session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BE679-8D96-4F32-A010-9F194EF2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43200"/>
            <a:ext cx="1466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C76"/>
                </a:solidFill>
              </a:defRPr>
            </a:pPr>
            <a:r>
              <a:rPr sz="1350" b="0">
                <a:solidFill>
                  <a:srgbClr val="6F6C76"/>
                </a:solidFill>
              </a:rPr>
              <a:t>一次已发生的学习行动，由 Quick Log、Timer 或 Guided Routine Player 生成。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959BF-16C1-42E8-B5DD-C51F3DC0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9D4CB"/>
                </a:solidFill>
              </a:defRPr>
            </a:pPr>
            <a:r>
              <a:rPr sz="1800" b="0">
                <a:solidFill>
                  <a:srgbClr val="D9D4C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F7271-8DA8-4BC4-9D86-8BDA5203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526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242B"/>
                </a:solidFill>
              </a:defRPr>
            </a:pPr>
            <a:r>
              <a:rPr sz="1800" b="1">
                <a:solidFill>
                  <a:srgbClr val="25242B"/>
                </a:solidFill>
              </a:rPr>
              <a:t>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5A5E1-A450-4D09-A395-F79EAB0C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43200"/>
            <a:ext cx="1466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C76"/>
                </a:solidFill>
              </a:defRPr>
            </a:pPr>
            <a:r>
              <a:rPr sz="1350" b="0">
                <a:solidFill>
                  <a:srgbClr val="6F6C76"/>
                </a:solidFill>
              </a:rPr>
              <a:t>带有“这证明了什么”说明的图片、录音、文件或链接；必要时可成为 Qualifying Proof。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AAA45-6426-4675-9A0F-D81C379B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9D4CB"/>
                </a:solidFill>
              </a:defRPr>
            </a:pPr>
            <a:r>
              <a:rPr sz="1800" b="0">
                <a:solidFill>
                  <a:srgbClr val="D9D4C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93353-4C7F-4A75-9C51-F4E1291A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526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242B"/>
                </a:solidFill>
              </a:defRPr>
            </a:pPr>
            <a:r>
              <a:rPr sz="1800" b="1">
                <a:solidFill>
                  <a:srgbClr val="25242B"/>
                </a:solidFill>
              </a:rPr>
              <a:t>Trail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BE712-E2BC-4C99-B385-D0DF129E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1466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C76"/>
                </a:solidFill>
              </a:defRPr>
            </a:pPr>
            <a:r>
              <a:rPr sz="1350" b="0">
                <a:solidFill>
                  <a:srgbClr val="6F6C76"/>
                </a:solidFill>
              </a:rPr>
              <a:t>Session、Proof、Next Step、阶段与 Review Decision 组成的项目时间线。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6AC95-48FA-41D6-A1E2-5D454047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9D4CB"/>
                </a:solidFill>
              </a:defRPr>
            </a:pPr>
            <a:r>
              <a:rPr sz="1800" b="0">
                <a:solidFill>
                  <a:srgbClr val="D9D4C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D224E-EDB6-4BB0-A5B3-8AC57AD5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526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242B"/>
                </a:solidFill>
              </a:defRPr>
            </a:pPr>
            <a:r>
              <a:rPr sz="1800" b="1">
                <a:solidFill>
                  <a:srgbClr val="25242B"/>
                </a:solidFill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971779-CAB1-43CE-8C4B-8691FF6F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1466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C76"/>
                </a:solidFill>
              </a:defRPr>
            </a:pPr>
            <a:r>
              <a:rPr sz="1350" b="0">
                <a:solidFill>
                  <a:srgbClr val="6F6C76"/>
                </a:solidFill>
              </a:rPr>
              <a:t>把近期证据整理为 Facts、Patterns、Decisions 与 Next Steps 的 Weekly/Stage 判断。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A48CC-5419-4DF9-9946-9094AAF5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E848C-E009-451C-91C0-4701DCBC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42B"/>
                </a:solidFill>
              </a:defRPr>
            </a:pPr>
            <a:r>
              <a:rPr sz="2100" b="1">
                <a:solidFill>
                  <a:srgbClr val="25242B"/>
                </a:solidFill>
              </a:rPr>
              <a:t>Session 负责事实，Proof 负责证据，Review 负责决定。</a:t>
            </a:r>
          </a:p>
        </p:txBody>
      </p:sp>
    </p:spTree>
    <p:extLst>
      <p:ext uri="{BB962C8B-B14F-4D97-AF65-F5344CB8AC3E}">
        <p14:creationId xmlns:p14="http://schemas.microsoft.com/office/powerpoint/2010/main" val="10088000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26E83-A65B-4875-BE8B-603F28C5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INFORMATION ARCHITECTURE</a:t>
            </a:r>
          </a:p>
        </p:txBody>
      </p:sp>
      <p:sp>
        <p:nvSpPr>
          <p:cNvPr id="2" name="wide-title-6">
            <a:extLst xmlns:a="http://schemas.openxmlformats.org/drawingml/2006/main">
              <a:ext uri="{FF2B5EF4-FFF2-40B4-BE49-F238E27FC236}">
                <a16:creationId xmlns:a16="http://schemas.microsoft.com/office/drawing/2014/main" id="{DB8A1145-18D9-4DFB-A575-2C483826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iPhone 与 Web 覆盖完整 v0.1 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20E48-5B1A-49F8-BB17-19DABD87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33FAB-23A0-4144-B1D2-8E7B1281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3b2c97878475d"/>
          <a:stretch xmlns:a="http://schemas.openxmlformats.org/drawingml/2006/main"/>
        </p:blipFill>
        <p:spPr>
          <a:xfrm xmlns:a="http://schemas.openxmlformats.org/drawingml/2006/main">
            <a:off x="933450" y="1982567"/>
            <a:ext cx="10325100" cy="342626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A00AB-56A0-496C-9346-C8A24AAD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29300"/>
            <a:ext cx="1032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iPhone 负责现场执行；Web Demo/Real Workspace 负责规划、审阅和受 guard 保护的写入。</a:t>
            </a:r>
          </a:p>
        </p:txBody>
      </p:sp>
    </p:spTree>
    <p:extLst>
      <p:ext uri="{BB962C8B-B14F-4D97-AF65-F5344CB8AC3E}">
        <p14:creationId xmlns:p14="http://schemas.microsoft.com/office/powerpoint/2010/main" val="1444420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E4824-F7B1-45CE-AB3A-828C321D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MODULES</a:t>
            </a:r>
          </a:p>
        </p:txBody>
      </p:sp>
      <p:sp>
        <p:nvSpPr>
          <p:cNvPr id="2" name="wide-title-7">
            <a:extLst xmlns:a="http://schemas.openxmlformats.org/drawingml/2006/main">
              <a:ext uri="{FF2B5EF4-FFF2-40B4-BE49-F238E27FC236}">
                <a16:creationId xmlns:a16="http://schemas.microsoft.com/office/drawing/2014/main" id="{D70606B9-7468-4962-AA5B-14197C73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本地规则与跨端边界都保持可见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F63BC-2307-4082-83DD-3BE2FCD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82558-E608-4592-90F6-8EDB500B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7a3d26f154fc0"/>
          <a:stretch xmlns:a="http://schemas.openxmlformats.org/drawingml/2006/main"/>
        </p:blipFill>
        <p:spPr>
          <a:xfrm xmlns:a="http://schemas.openxmlformats.org/drawingml/2006/main">
            <a:off x="933450" y="2017292"/>
            <a:ext cx="10325100" cy="335681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7F996-67DE-4A20-8372-D7FF4C5F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29300"/>
            <a:ext cx="1032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SwiftData/JSON Store、CloudKit private zone、Web draft storage 与 Support/AI 边界彼此分开。</a:t>
            </a:r>
          </a:p>
        </p:txBody>
      </p:sp>
    </p:spTree>
    <p:extLst>
      <p:ext uri="{BB962C8B-B14F-4D97-AF65-F5344CB8AC3E}">
        <p14:creationId xmlns:p14="http://schemas.microsoft.com/office/powerpoint/2010/main" val="8686269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629A8-3D34-468C-BBFB-3A4F38CC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ONBOARDING</a:t>
            </a:r>
          </a:p>
        </p:txBody>
      </p:sp>
      <p:sp>
        <p:nvSpPr>
          <p:cNvPr id="2" name="wide-title-8">
            <a:extLst xmlns:a="http://schemas.openxmlformats.org/drawingml/2006/main">
              <a:ext uri="{FF2B5EF4-FFF2-40B4-BE49-F238E27FC236}">
                <a16:creationId xmlns:a16="http://schemas.microsoft.com/office/drawing/2014/main" id="{B7AA5EF7-5111-43F1-ADD5-8045618A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首次设置必须落下一条真实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D15A6-D640-4A02-AD13-CC9D0E99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1AFC1-0F43-442B-8092-3539B2D0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7794006b34034"/>
          <a:stretch xmlns:a="http://schemas.openxmlformats.org/drawingml/2006/main"/>
        </p:blipFill>
        <p:spPr>
          <a:xfrm xmlns:a="http://schemas.openxmlformats.org/drawingml/2006/main">
            <a:off x="5298188" y="1695450"/>
            <a:ext cx="1595625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06456-5E95-4EE1-B9B3-D4300E11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29300"/>
            <a:ext cx="1032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创建 1–3 个 Project 后，完成首条 Quick Log 才进入 Today。</a:t>
            </a:r>
          </a:p>
        </p:txBody>
      </p:sp>
    </p:spTree>
    <p:extLst>
      <p:ext uri="{BB962C8B-B14F-4D97-AF65-F5344CB8AC3E}">
        <p14:creationId xmlns:p14="http://schemas.microsoft.com/office/powerpoint/2010/main" val="7185323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E530A-0254-4D5F-891D-1023F133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DEMO · TODAY</a:t>
            </a:r>
          </a:p>
        </p:txBody>
      </p:sp>
      <p:sp>
        <p:nvSpPr>
          <p:cNvPr id="2" name="wide-title-9">
            <a:extLst xmlns:a="http://schemas.openxmlformats.org/drawingml/2006/main">
              <a:ext uri="{FF2B5EF4-FFF2-40B4-BE49-F238E27FC236}">
                <a16:creationId xmlns:a16="http://schemas.microsoft.com/office/drawing/2014/main" id="{43692C3A-F1A6-4344-BA54-1AEED4D3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Today 直接给出可以执行的下一步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9A8CC-A93E-47C0-B2CA-20202DDE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851C4-E090-442F-B395-469F6410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85900"/>
            <a:ext cx="2667000" cy="48006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17196a80a422a"/>
          <a:stretch xmlns:a="http://schemas.openxmlformats.org/drawingml/2006/main"/>
        </p:blipFill>
        <p:spPr>
          <a:xfrm xmlns:a="http://schemas.openxmlformats.org/drawingml/2006/main">
            <a:off x="8139407" y="1619250"/>
            <a:ext cx="2085386" cy="453390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177E0-C7FB-4D7D-902E-CE9FA16A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48A06-35BD-4474-85B8-52BBBCCE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42B"/>
                </a:solidFill>
              </a:defRPr>
            </a:pPr>
            <a:r>
              <a:rPr sz="2250" b="1">
                <a:solidFill>
                  <a:srgbClr val="25242B"/>
                </a:solidFill>
              </a:rPr>
              <a:t>首页不是任务清单，而是“继续学习”的最短路径。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2F916-5FF6-4769-A48D-377462EA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83F65-1CE5-46D5-9433-92E0D0D1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42B"/>
                </a:solidFill>
              </a:defRPr>
            </a:pPr>
            <a:r>
              <a:rPr sz="1575" b="0">
                <a:solidFill>
                  <a:srgbClr val="25242B"/>
                </a:solidFill>
              </a:rPr>
              <a:t>仅显示 active 且有 Next Step 的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C852D-6CD4-4441-8427-E56CDF55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4FA42-D0E8-4FAD-959E-566FB3D5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42B"/>
                </a:solidFill>
              </a:defRPr>
            </a:pPr>
            <a:r>
              <a:rPr sz="1575" b="0">
                <a:solidFill>
                  <a:srgbClr val="25242B"/>
                </a:solidFill>
              </a:rPr>
              <a:t>同时带出最近 Session 与 Proof 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04FEA-A759-4493-A2FA-51244A3D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6BE52-1CA9-4518-85BD-35817788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965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42B"/>
                </a:solidFill>
              </a:defRPr>
            </a:pPr>
            <a:r>
              <a:rPr sz="1575" b="0">
                <a:solidFill>
                  <a:srgbClr val="25242B"/>
                </a:solidFill>
              </a:rPr>
              <a:t>Start 与 Quick Log 服务不同记录时机</a:t>
            </a:r>
          </a:p>
        </p:txBody>
      </p:sp>
    </p:spTree>
    <p:extLst>
      <p:ext uri="{BB962C8B-B14F-4D97-AF65-F5344CB8AC3E}">
        <p14:creationId xmlns:p14="http://schemas.microsoft.com/office/powerpoint/2010/main" val="12564968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968C2-5D59-48A6-A0AE-F113BFAE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DEMO · SESSION</a:t>
            </a:r>
          </a:p>
        </p:txBody>
      </p:sp>
      <p:sp>
        <p:nvSpPr>
          <p:cNvPr id="2" name="wide-title-10">
            <a:extLst xmlns:a="http://schemas.openxmlformats.org/drawingml/2006/main">
              <a:ext uri="{FF2B5EF4-FFF2-40B4-BE49-F238E27FC236}">
                <a16:creationId xmlns:a16="http://schemas.microsoft.com/office/drawing/2014/main" id="{C40D1557-5A5A-4F7A-BC09-9A2DC5EA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Quick Log 和 Timer 最终进入同一种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AE194-09D3-4AD4-9306-38F3D543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55A6B-F2D7-4F38-9AA4-4DB12FDB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762500" cy="4610100"/>
          </a:xfrm>
          <a:prstGeom xmlns:a="http://schemas.openxmlformats.org/drawingml/2006/main" prst="roundRect">
            <a:avLst>
              <a:gd name="adj" fmla="val 2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a4a00e55e40c0"/>
          <a:stretch xmlns:a="http://schemas.openxmlformats.org/drawingml/2006/main"/>
        </p:blipFill>
        <p:spPr>
          <a:xfrm xmlns:a="http://schemas.openxmlformats.org/drawingml/2006/main">
            <a:off x="876300" y="1860076"/>
            <a:ext cx="1828800" cy="3976048"/>
          </a:xfrm>
          <a:prstGeom xmlns:a="http://schemas.openxmlformats.org/drawingml/2006/main" prst="roundRect">
            <a:avLst>
              <a:gd name="adj" fmla="val 6250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04129b32c4215"/>
          <a:stretch xmlns:a="http://schemas.openxmlformats.org/drawingml/2006/main"/>
        </p:blipFill>
        <p:spPr>
          <a:xfrm xmlns:a="http://schemas.openxmlformats.org/drawingml/2006/main">
            <a:off x="3048000" y="1860076"/>
            <a:ext cx="1828800" cy="3976048"/>
          </a:xfrm>
          <a:prstGeom xmlns:a="http://schemas.openxmlformats.org/drawingml/2006/main" prst="roundRect">
            <a:avLst>
              <a:gd name="adj" fmla="val 625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D4B15-72C8-4815-8815-B66D9472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62100"/>
            <a:ext cx="5676900" cy="4610100"/>
          </a:xfrm>
          <a:prstGeom xmlns:a="http://schemas.openxmlformats.org/drawingml/2006/main" prst="roundRect">
            <a:avLst>
              <a:gd name="adj" fmla="val 2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592b6eab746bd"/>
          <a:stretch xmlns:a="http://schemas.openxmlformats.org/drawingml/2006/main"/>
        </p:blipFill>
        <p:spPr>
          <a:xfrm xmlns:a="http://schemas.openxmlformats.org/drawingml/2006/main">
            <a:off x="7517047" y="1809750"/>
            <a:ext cx="2301405" cy="3390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C358F-9EC6-4A81-9D04-D1A9EC7E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53050"/>
            <a:ext cx="502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57D9"/>
                </a:solidFill>
              </a:defRPr>
            </a:pPr>
            <a:r>
              <a:rPr sz="1500" b="1">
                <a:solidFill>
                  <a:srgbClr val="6657D9"/>
                </a:solidFill>
              </a:rPr>
              <a:t>同一份 Session 同时保留行动、时长、内容和 Next Step 的前后变化。</a:t>
            </a:r>
          </a:p>
        </p:txBody>
      </p:sp>
    </p:spTree>
    <p:extLst>
      <p:ext uri="{BB962C8B-B14F-4D97-AF65-F5344CB8AC3E}">
        <p14:creationId xmlns:p14="http://schemas.microsoft.com/office/powerpoint/2010/main" val="11860204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80673-CA0C-42B3-BE33-7926A2C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DEMO · TIMER</a:t>
            </a:r>
          </a:p>
        </p:txBody>
      </p:sp>
      <p:sp>
        <p:nvSpPr>
          <p:cNvPr id="2" name="wide-title-11">
            <a:extLst xmlns:a="http://schemas.openxmlformats.org/drawingml/2006/main">
              <a:ext uri="{FF2B5EF4-FFF2-40B4-BE49-F238E27FC236}">
                <a16:creationId xmlns:a16="http://schemas.microsoft.com/office/drawing/2014/main" id="{03265B17-7259-46A5-A5BF-43FD76B4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Timer 只统计真正投入的活动时间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8AA65-1461-4186-B152-A1429302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F9C89-137E-4C09-9E2E-E258E95D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85900"/>
            <a:ext cx="2667000" cy="48006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dcebca5ea4dba"/>
          <a:stretch xmlns:a="http://schemas.openxmlformats.org/drawingml/2006/main"/>
        </p:blipFill>
        <p:spPr>
          <a:xfrm xmlns:a="http://schemas.openxmlformats.org/drawingml/2006/main">
            <a:off x="8139407" y="1619250"/>
            <a:ext cx="2085386" cy="453390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BE604-0949-4315-ADFF-9A81E185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9C6FD-FD64-4784-B364-3E6D8B39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42B"/>
                </a:solidFill>
              </a:defRPr>
            </a:pPr>
            <a:r>
              <a:rPr sz="2250" b="1">
                <a:solidFill>
                  <a:srgbClr val="25242B"/>
                </a:solidFill>
              </a:rPr>
              <a:t>暂停不累计时间，舍弃不产生 Session。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E44AD-F438-46C6-B3CE-CEAB6F46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8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61193-AF99-4D2F-9BCD-1BE38296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42B"/>
                </a:solidFill>
              </a:defRPr>
            </a:pPr>
            <a:r>
              <a:rPr sz="1575" b="0">
                <a:solidFill>
                  <a:srgbClr val="25242B"/>
                </a:solidFill>
              </a:rPr>
              <a:t>Running、Paused 状态明确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28A2E-9089-4567-A0F0-A810E2FF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8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CAEA0-3200-469A-8A72-FE880504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42B"/>
                </a:solidFill>
              </a:defRPr>
            </a:pPr>
            <a:r>
              <a:rPr sz="1575" b="0">
                <a:solidFill>
                  <a:srgbClr val="25242B"/>
                </a:solidFill>
              </a:rPr>
              <a:t>End 后补充学习内容和新的 Next Step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AD3AF-5C5E-405C-8AC2-DF960416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8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C3675-4DB9-4766-AA69-1FC61658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965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42B"/>
                </a:solidFill>
              </a:defRPr>
            </a:pPr>
            <a:r>
              <a:rPr sz="1575" b="0">
                <a:solidFill>
                  <a:srgbClr val="25242B"/>
                </a:solidFill>
              </a:rPr>
              <a:t>演示时间不足时可切换 Quick Log 完成闭环</a:t>
            </a:r>
          </a:p>
        </p:txBody>
      </p:sp>
    </p:spTree>
    <p:extLst>
      <p:ext uri="{BB962C8B-B14F-4D97-AF65-F5344CB8AC3E}">
        <p14:creationId xmlns:p14="http://schemas.microsoft.com/office/powerpoint/2010/main" val="19982351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2C713-82B2-4622-A29B-0B4865E1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PROOF</a:t>
            </a:r>
          </a:p>
        </p:txBody>
      </p:sp>
      <p:sp>
        <p:nvSpPr>
          <p:cNvPr id="2" name="wide-title-12">
            <a:extLst xmlns:a="http://schemas.openxmlformats.org/drawingml/2006/main">
              <a:ext uri="{FF2B5EF4-FFF2-40B4-BE49-F238E27FC236}">
                <a16:creationId xmlns:a16="http://schemas.microsoft.com/office/drawing/2014/main" id="{4466B72D-3783-4733-B8F9-1571FCB9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附件只有配上解释，才成为学习证据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BF402-02A3-403D-8064-91AC7F3E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257B8-E68A-47C3-AB08-87F79894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daa02fb90472b"/>
          <a:stretch xmlns:a="http://schemas.openxmlformats.org/drawingml/2006/main"/>
        </p:blipFill>
        <p:spPr>
          <a:xfrm xmlns:a="http://schemas.openxmlformats.org/drawingml/2006/main">
            <a:off x="5355130" y="1695450"/>
            <a:ext cx="1481741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4DCE0-6B95-4F7C-A44F-B656EB60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29300"/>
            <a:ext cx="1032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图片、录音、文件和链接都必须补充“这证明了什么”。</a:t>
            </a:r>
          </a:p>
        </p:txBody>
      </p:sp>
    </p:spTree>
    <p:extLst>
      <p:ext uri="{BB962C8B-B14F-4D97-AF65-F5344CB8AC3E}">
        <p14:creationId xmlns:p14="http://schemas.microsoft.com/office/powerpoint/2010/main" val="14491376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FADC9-7555-43E7-BF56-5B2A0334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DEMO · PROOF</a:t>
            </a:r>
          </a:p>
        </p:txBody>
      </p:sp>
      <p:sp>
        <p:nvSpPr>
          <p:cNvPr id="2" name="wide-title-13">
            <a:extLst xmlns:a="http://schemas.openxmlformats.org/drawingml/2006/main">
              <a:ext uri="{FF2B5EF4-FFF2-40B4-BE49-F238E27FC236}">
                <a16:creationId xmlns:a16="http://schemas.microsoft.com/office/drawing/2014/main" id="{E5D6BFAC-100E-4661-A47D-F77C8360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Proof 同时保留内容、意义和来源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A7B18-1852-4519-8011-DEBA7BF6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47050-19CE-47B2-AA9F-394FEEEC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7823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56f641f58443f"/>
          <a:stretch xmlns:a="http://schemas.openxmlformats.org/drawingml/2006/main"/>
        </p:blipFill>
        <p:spPr>
          <a:xfrm xmlns:a="http://schemas.openxmlformats.org/drawingml/2006/main">
            <a:off x="1165581" y="1657350"/>
            <a:ext cx="2050338" cy="4457700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2121720b84cc4"/>
          <a:stretch xmlns:a="http://schemas.openxmlformats.org/drawingml/2006/main"/>
        </p:blipFill>
        <p:spPr>
          <a:xfrm xmlns:a="http://schemas.openxmlformats.org/drawingml/2006/main">
            <a:off x="3661131" y="1657350"/>
            <a:ext cx="2050338" cy="4457700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3C88F-4A28-4EA6-BE81-446D587E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685E1-7AE8-470F-AFAB-BC6DE2E1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9550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42B"/>
                </a:solidFill>
              </a:defRPr>
            </a:pPr>
            <a:r>
              <a:rPr sz="2025" b="1">
                <a:solidFill>
                  <a:srgbClr val="25242B"/>
                </a:solidFill>
              </a:rPr>
              <a:t>“What does this prove?” 是证据模型的关键约束。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E692F-1DCB-48BF-BC73-634C8527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1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CB0FC-6377-4055-BCBA-9ED654B0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05200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42B"/>
                </a:solidFill>
              </a:defRPr>
            </a:pPr>
            <a:r>
              <a:rPr sz="1425" b="0">
                <a:solidFill>
                  <a:srgbClr val="25242B"/>
                </a:solidFill>
              </a:rPr>
              <a:t>可关联具体 Session，也可只关联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AA66F-6273-4C60-BE2D-238FE033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29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59EBC-9028-418B-BD6E-3FBB8E43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52900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42B"/>
                </a:solidFill>
              </a:defRPr>
            </a:pPr>
            <a:r>
              <a:rPr sz="1425" b="0">
                <a:solidFill>
                  <a:srgbClr val="25242B"/>
                </a:solidFill>
              </a:rPr>
              <a:t>Library 提供 Time、Project、Type 三种回看方式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FBF61-F8E6-4C32-B0FC-453981F0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0A0DC-7912-4CFB-8B27-E122DE9A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00600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42B"/>
                </a:solidFill>
              </a:defRPr>
            </a:pPr>
            <a:r>
              <a:rPr sz="1425" b="0">
                <a:solidFill>
                  <a:srgbClr val="25242B"/>
                </a:solidFill>
              </a:rPr>
              <a:t>本地附件缺失时显示不可用，不伪造预览</a:t>
            </a:r>
          </a:p>
        </p:txBody>
      </p:sp>
    </p:spTree>
    <p:extLst>
      <p:ext uri="{BB962C8B-B14F-4D97-AF65-F5344CB8AC3E}">
        <p14:creationId xmlns:p14="http://schemas.microsoft.com/office/powerpoint/2010/main" val="10869441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1134E-1326-4292-B903-B3B9B29B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DEMO · TRAIL</a:t>
            </a:r>
          </a:p>
        </p:txBody>
      </p:sp>
      <p:sp>
        <p:nvSpPr>
          <p:cNvPr id="2" name="wide-title-14">
            <a:extLst xmlns:a="http://schemas.openxmlformats.org/drawingml/2006/main">
              <a:ext uri="{FF2B5EF4-FFF2-40B4-BE49-F238E27FC236}">
                <a16:creationId xmlns:a16="http://schemas.microsoft.com/office/drawing/2014/main" id="{AA29B3E7-4C4C-407C-B6D7-5BDC6609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Project Detail 把行动、证据和状态放在一起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8B9DA-709C-4EA9-B44D-D71E0127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A6772-BD5B-4227-862E-32F37C83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85900"/>
            <a:ext cx="2667000" cy="48006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4e8d9e8bd48e9"/>
          <a:stretch xmlns:a="http://schemas.openxmlformats.org/drawingml/2006/main"/>
        </p:blipFill>
        <p:spPr>
          <a:xfrm xmlns:a="http://schemas.openxmlformats.org/drawingml/2006/main">
            <a:off x="8139407" y="1619250"/>
            <a:ext cx="2085386" cy="453390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953CC-9F64-4664-A6A5-6D0979A6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6AD59-5D60-49EF-A921-273614C4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42B"/>
                </a:solidFill>
              </a:defRPr>
            </a:pPr>
            <a:r>
              <a:rPr sz="2250" b="1">
                <a:solidFill>
                  <a:srgbClr val="25242B"/>
                </a:solidFill>
              </a:rPr>
              <a:t>Trail 的价值不在“完成了多少”，而在“项目如何变化”。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96247-417A-492D-A1B6-6B66E4B0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EED1C-C363-46EB-B7FD-3FC8068A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42B"/>
                </a:solidFill>
              </a:defRPr>
            </a:pPr>
            <a:r>
              <a:rPr sz="1575" b="0">
                <a:solidFill>
                  <a:srgbClr val="25242B"/>
                </a:solidFill>
              </a:rPr>
              <a:t>Goal、Next Step、Actions 和 Status 共处一页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3AB5A-4705-4F1E-9AD4-5E650DBF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0D214-4A04-4B29-9BE3-2390ABD7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42B"/>
                </a:solidFill>
              </a:defRPr>
            </a:pPr>
            <a:r>
              <a:rPr sz="1575" b="0">
                <a:solidFill>
                  <a:srgbClr val="25242B"/>
                </a:solidFill>
              </a:rPr>
              <a:t>Sessions、Proofs、Reviews 与 Trail 使用同一 Project 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7912E-0751-4F77-B794-201D072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CD311-D481-46F4-B1DA-ABAA5F71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965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42B"/>
                </a:solidFill>
              </a:defRPr>
            </a:pPr>
            <a:r>
              <a:rPr sz="1575" b="0">
                <a:solidFill>
                  <a:srgbClr val="25242B"/>
                </a:solidFill>
              </a:rPr>
              <a:t>完整 Trail 结构由产品流程图维护</a:t>
            </a:r>
          </a:p>
        </p:txBody>
      </p:sp>
    </p:spTree>
    <p:extLst>
      <p:ext uri="{BB962C8B-B14F-4D97-AF65-F5344CB8AC3E}">
        <p14:creationId xmlns:p14="http://schemas.microsoft.com/office/powerpoint/2010/main" val="20044407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4E94B-BD8D-4FE5-BC4F-38212272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REVIEW</a:t>
            </a:r>
          </a:p>
        </p:txBody>
      </p:sp>
      <p:sp>
        <p:nvSpPr>
          <p:cNvPr id="2" name="wide-title-15">
            <a:extLst xmlns:a="http://schemas.openxmlformats.org/drawingml/2006/main">
              <a:ext uri="{FF2B5EF4-FFF2-40B4-BE49-F238E27FC236}">
                <a16:creationId xmlns:a16="http://schemas.microsoft.com/office/drawing/2014/main" id="{1799BFFA-BD37-4A95-9055-719AF17B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Review 先保存判断，再由用户应用建议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7CFDF-30C5-49B5-9B06-48B62352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84887-D82E-4A63-B991-DADA3A39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877b64bdd49cf"/>
          <a:stretch xmlns:a="http://schemas.openxmlformats.org/drawingml/2006/main"/>
        </p:blipFill>
        <p:spPr>
          <a:xfrm xmlns:a="http://schemas.openxmlformats.org/drawingml/2006/main">
            <a:off x="3586740" y="1695450"/>
            <a:ext cx="1437120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4A611-5FF5-4BC3-95A2-42FD21EA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04950"/>
            <a:ext cx="2476500" cy="4762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07bb934624364"/>
          <a:stretch xmlns:a="http://schemas.openxmlformats.org/drawingml/2006/main"/>
        </p:blipFill>
        <p:spPr>
          <a:xfrm xmlns:a="http://schemas.openxmlformats.org/drawingml/2006/main">
            <a:off x="8518881" y="1657350"/>
            <a:ext cx="2050338" cy="44577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</p:spTree>
    <p:extLst>
      <p:ext uri="{BB962C8B-B14F-4D97-AF65-F5344CB8AC3E}">
        <p14:creationId xmlns:p14="http://schemas.microsoft.com/office/powerpoint/2010/main" val="19700729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C3D3F-EF56-477C-9164-D54C5741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AI FALLBACK</a:t>
            </a:r>
          </a:p>
        </p:txBody>
      </p:sp>
      <p:sp>
        <p:nvSpPr>
          <p:cNvPr id="2" name="wide-title-16">
            <a:extLst xmlns:a="http://schemas.openxmlformats.org/drawingml/2006/main">
              <a:ext uri="{FF2B5EF4-FFF2-40B4-BE49-F238E27FC236}">
                <a16:creationId xmlns:a16="http://schemas.microsoft.com/office/drawing/2014/main" id="{82402531-BD4B-40F2-AA4A-807A2177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AI 不可用时，Review 仍然可以完成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1DCE0-B1D6-4B19-BCD2-92EA79AB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F9B1E-D5E1-4731-9D66-39FBD524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4d79fc9564cfb"/>
          <a:stretch xmlns:a="http://schemas.openxmlformats.org/drawingml/2006/main"/>
        </p:blipFill>
        <p:spPr>
          <a:xfrm xmlns:a="http://schemas.openxmlformats.org/drawingml/2006/main">
            <a:off x="5424169" y="1695450"/>
            <a:ext cx="1343661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762CC-43D8-4BB8-85BD-0A5C40F8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29300"/>
            <a:ext cx="1032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未配置、请求失败或解析失败都会回到本地证据规则，结果仍可编辑。</a:t>
            </a:r>
          </a:p>
        </p:txBody>
      </p:sp>
    </p:spTree>
    <p:extLst>
      <p:ext uri="{BB962C8B-B14F-4D97-AF65-F5344CB8AC3E}">
        <p14:creationId xmlns:p14="http://schemas.microsoft.com/office/powerpoint/2010/main" val="1805944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71C74-57B3-411E-934A-2E5F3131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LIBRARY &amp; EXPORT</a:t>
            </a:r>
          </a:p>
        </p:txBody>
      </p:sp>
      <p:sp>
        <p:nvSpPr>
          <p:cNvPr id="2" name="wide-title-17">
            <a:extLst xmlns:a="http://schemas.openxmlformats.org/drawingml/2006/main">
              <a:ext uri="{FF2B5EF4-FFF2-40B4-BE49-F238E27FC236}">
                <a16:creationId xmlns:a16="http://schemas.microsoft.com/office/drawing/2014/main" id="{492A6DE7-E852-4A61-B229-3ADE024B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Library 负责回看证据，Export 负责把数据带走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252EF-6280-4592-B267-277F2729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E07FD-4B20-406A-9CF8-5CF1AFB6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124200" cy="47625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fc372b5294aed"/>
          <a:stretch xmlns:a="http://schemas.openxmlformats.org/drawingml/2006/main"/>
        </p:blipFill>
        <p:spPr>
          <a:xfrm xmlns:a="http://schemas.openxmlformats.org/drawingml/2006/main">
            <a:off x="1222731" y="1657350"/>
            <a:ext cx="2050338" cy="4457700"/>
          </a:xfrm>
          <a:prstGeom xmlns:a="http://schemas.openxmlformats.org/drawingml/2006/main" prst="roundRect">
            <a:avLst>
              <a:gd name="adj" fmla="val 441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B9504-E9C1-4B19-B28D-3E615AC4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04950"/>
            <a:ext cx="733425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d4a5da6554a80"/>
          <a:stretch xmlns:a="http://schemas.openxmlformats.org/drawingml/2006/main"/>
        </p:blipFill>
        <p:spPr>
          <a:xfrm xmlns:a="http://schemas.openxmlformats.org/drawingml/2006/main">
            <a:off x="6369471" y="1771650"/>
            <a:ext cx="2939208" cy="3619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D2762-F87E-4AB4-A9A3-B67AB655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67350"/>
            <a:ext cx="664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57D9"/>
                </a:solidFill>
              </a:defRPr>
            </a:pPr>
            <a:r>
              <a:rPr sz="1500" b="1">
                <a:solidFill>
                  <a:srgbClr val="6657D9"/>
                </a:solidFill>
              </a:rPr>
              <a:t>一次 Export 生成版本化 journal.json 与附件目录；失败不修改原始数据。</a:t>
            </a:r>
          </a:p>
        </p:txBody>
      </p:sp>
    </p:spTree>
    <p:extLst>
      <p:ext uri="{BB962C8B-B14F-4D97-AF65-F5344CB8AC3E}">
        <p14:creationId xmlns:p14="http://schemas.microsoft.com/office/powerpoint/2010/main" val="15793990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6495D-B84B-48B5-ACE7-AAB0608F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5–10 MIN DEMO</a:t>
            </a:r>
          </a:p>
        </p:txBody>
      </p:sp>
      <p:sp>
        <p:nvSpPr>
          <p:cNvPr id="2" name="wide-title-18">
            <a:extLst xmlns:a="http://schemas.openxmlformats.org/drawingml/2006/main">
              <a:ext uri="{FF2B5EF4-FFF2-40B4-BE49-F238E27FC236}">
                <a16:creationId xmlns:a16="http://schemas.microsoft.com/office/drawing/2014/main" id="{DC55B50F-A987-4CA1-81B6-FBF2684D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一条 CS336 故事连接 iPhone 与 Web 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B6CC3-F2E9-4B33-AF48-7863F1D5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EABBA-6DFC-4A31-8AE9-FFA10603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a6647e38645dd"/>
          <a:stretch xmlns:a="http://schemas.openxmlformats.org/drawingml/2006/main"/>
        </p:blipFill>
        <p:spPr>
          <a:xfrm xmlns:a="http://schemas.openxmlformats.org/drawingml/2006/main">
            <a:off x="933450" y="3276098"/>
            <a:ext cx="10325100" cy="83920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FB2AC-E5F8-4B7A-886F-5DCA9406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29300"/>
            <a:ext cx="1032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Today → Routine/Timer/Quick Log → Proof → Trail → Stage/Weekly Review → guarded Plan decision。</a:t>
            </a:r>
          </a:p>
        </p:txBody>
      </p:sp>
    </p:spTree>
    <p:extLst>
      <p:ext uri="{BB962C8B-B14F-4D97-AF65-F5344CB8AC3E}">
        <p14:creationId xmlns:p14="http://schemas.microsoft.com/office/powerpoint/2010/main" val="9789734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395055-A3AF-4F91-AF5E-CE1CCE22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STATUS</a:t>
            </a:r>
          </a:p>
        </p:txBody>
      </p:sp>
      <p:sp>
        <p:nvSpPr>
          <p:cNvPr id="2" name="wide-title-19">
            <a:extLst xmlns:a="http://schemas.openxmlformats.org/drawingml/2006/main">
              <a:ext uri="{FF2B5EF4-FFF2-40B4-BE49-F238E27FC236}">
                <a16:creationId xmlns:a16="http://schemas.microsoft.com/office/drawing/2014/main" id="{6DC2B555-913C-4417-9DA8-A817B38D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B1–B6 与 C1/C2 已有本地证据，D1 live gates 单独标注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BB26C-4A4F-4D54-8575-E921B78A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C266D-39A6-4A7C-A1B0-F626CF13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82300" cy="379095"/>
          </a:xfrm>
          <a:prstGeom xmlns:a="http://schemas.openxmlformats.org/drawingml/2006/main" prst="roundRect">
            <a:avLst>
              <a:gd name="adj" fmla="val 30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5F202-ED21-4522-A6C9-ACA17375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990600" cy="15049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C69DB-9C8B-4C88-9AD8-747F1363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876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866B"/>
                </a:solidFill>
              </a:defRPr>
            </a:pPr>
            <a:r>
              <a:rPr sz="1200" b="1">
                <a:solidFill>
                  <a:srgbClr val="34866B"/>
                </a:solidFill>
              </a:rPr>
              <a:t>已实现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CB06E-664E-4205-9F0B-38F86F09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95450"/>
            <a:ext cx="24765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242B"/>
                </a:solidFill>
              </a:defRPr>
            </a:pPr>
            <a:r>
              <a:rPr sz="1275" b="1">
                <a:solidFill>
                  <a:srgbClr val="25242B"/>
                </a:solidFill>
              </a:rPr>
              <a:t>Today Agenda、Carryover 与 Daily Override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451A1-FE20-4771-9C5A-584E72B3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95450"/>
            <a:ext cx="6591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组合 Planned Session、Practice occurrence 与 Next Step，保留原窗口并支持当天展示调整。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56632-DF3A-44ED-9A77-117E4B00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7395"/>
            <a:ext cx="10782300" cy="379095"/>
          </a:xfrm>
          <a:prstGeom xmlns:a="http://schemas.openxmlformats.org/drawingml/2006/main" prst="roundRect">
            <a:avLst>
              <a:gd name="adj" fmla="val 30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FA6A7-D695-4772-882E-1FB8FF1A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1695"/>
            <a:ext cx="990600" cy="15049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27679-95C6-43F8-AE26-054B5E10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0745"/>
            <a:ext cx="876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866B"/>
                </a:solidFill>
              </a:defRPr>
            </a:pPr>
            <a:r>
              <a:rPr sz="1200" b="1">
                <a:solidFill>
                  <a:srgbClr val="34866B"/>
                </a:solidFill>
              </a:rPr>
              <a:t>已实现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302F2-224D-45AB-8661-CCBA7788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50745"/>
            <a:ext cx="24765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242B"/>
                </a:solidFill>
              </a:defRPr>
            </a:pPr>
            <a:r>
              <a:rPr sz="1275" b="1">
                <a:solidFill>
                  <a:srgbClr val="25242B"/>
                </a:solidFill>
              </a:rPr>
              <a:t>Learning Plan 与 Plan Revision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81301-F77C-41EB-A881-B8A393CF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50745"/>
            <a:ext cx="6591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结构性计划变化创建不可变 revision；执行层 Planned Session 仍可单独完成或改期。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AA01E-8141-40CA-AE73-5BB2F82B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2690"/>
            <a:ext cx="10782300" cy="379095"/>
          </a:xfrm>
          <a:prstGeom xmlns:a="http://schemas.openxmlformats.org/drawingml/2006/main" prst="roundRect">
            <a:avLst>
              <a:gd name="adj" fmla="val 30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C97A9-1348-47D7-A8AC-2202D834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6990"/>
            <a:ext cx="990600" cy="15049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8C6F1-0D8F-4F4B-B65C-E01CD273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6040"/>
            <a:ext cx="876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866B"/>
                </a:solidFill>
              </a:defRPr>
            </a:pPr>
            <a:r>
              <a:rPr sz="1200" b="1">
                <a:solidFill>
                  <a:srgbClr val="34866B"/>
                </a:solidFill>
              </a:rPr>
              <a:t>已实现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FB49B-EE3C-4509-AB67-2FDCC980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06040"/>
            <a:ext cx="24765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242B"/>
                </a:solidFill>
              </a:defRPr>
            </a:pPr>
            <a:r>
              <a:rPr sz="1275" b="1">
                <a:solidFill>
                  <a:srgbClr val="25242B"/>
                </a:solidFill>
              </a:rPr>
              <a:t>Practice Blocks、Focus 与 Routine Player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3337F-03D5-4094-81DE-2260A62E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6040"/>
            <a:ext cx="6591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有序 Block、Focus、Segments、跳过/重访与崩溃恢复写入一个 Practice Session。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4039D-301E-4FCA-AB3C-9B0D694C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7985"/>
            <a:ext cx="10782300" cy="379095"/>
          </a:xfrm>
          <a:prstGeom xmlns:a="http://schemas.openxmlformats.org/drawingml/2006/main" prst="roundRect">
            <a:avLst>
              <a:gd name="adj" fmla="val 30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F7D9D-7393-42D9-8E0B-FAE2BFB9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2285"/>
            <a:ext cx="990600" cy="15049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B943C9-6FCF-41DB-BA8D-B97E7ED4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1335"/>
            <a:ext cx="876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866B"/>
                </a:solidFill>
              </a:defRPr>
            </a:pPr>
            <a:r>
              <a:rPr sz="1200" b="1">
                <a:solidFill>
                  <a:srgbClr val="34866B"/>
                </a:solidFill>
              </a:rPr>
              <a:t>已实现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CD5AE4-A228-4194-9A8A-161984DA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61335"/>
            <a:ext cx="24765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242B"/>
                </a:solidFill>
              </a:defRPr>
            </a:pPr>
            <a:r>
              <a:rPr sz="1275" b="1">
                <a:solidFill>
                  <a:srgbClr val="25242B"/>
                </a:solidFill>
              </a:rPr>
              <a:t>Stage Review 与 Qualifying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E38CAD-59E9-453F-95AB-DAAF131B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61335"/>
            <a:ext cx="6591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阶段锚定的 Readiness、Proof Revision、Evidence Contract 验收和显式 Review Decision 可原子发布。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4AB76F-814B-42BF-8F53-A2867549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3280"/>
            <a:ext cx="10782300" cy="379095"/>
          </a:xfrm>
          <a:prstGeom xmlns:a="http://schemas.openxmlformats.org/drawingml/2006/main" prst="roundRect">
            <a:avLst>
              <a:gd name="adj" fmla="val 30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C6CE26-57D9-44EC-BA7E-5A01D627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7580"/>
            <a:ext cx="990600" cy="15049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C6E5CE-F97A-4214-AD95-20C6C7D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6630"/>
            <a:ext cx="876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866B"/>
                </a:solidFill>
              </a:defRPr>
            </a:pPr>
            <a:r>
              <a:rPr sz="1200" b="1">
                <a:solidFill>
                  <a:srgbClr val="34866B"/>
                </a:solidFill>
              </a:rPr>
              <a:t>已实现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15C047-8F18-49A4-9A28-66E02EF7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16630"/>
            <a:ext cx="24765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242B"/>
                </a:solidFill>
              </a:defRPr>
            </a:pPr>
            <a:r>
              <a:rPr sz="1275" b="1">
                <a:solidFill>
                  <a:srgbClr val="25242B"/>
                </a:solidFill>
              </a:rPr>
              <a:t>Planning Window 与 Capacity Check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116C09-72E2-48C1-A3A9-E133B342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16630"/>
            <a:ext cx="6591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按周/项目汇总计划与练习负载，支持 DST 安全的可用时间检查并要求确认。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A378CD-6031-4F6B-9945-756538F6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10782300" cy="379095"/>
          </a:xfrm>
          <a:prstGeom xmlns:a="http://schemas.openxmlformats.org/drawingml/2006/main" prst="roundRect">
            <a:avLst>
              <a:gd name="adj" fmla="val 30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918625-A825-4447-ABA0-4117426D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990600" cy="15049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C90DC7-04E3-4B2E-B88A-A4E07C32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876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866B"/>
                </a:solidFill>
              </a:defRPr>
            </a:pPr>
            <a:r>
              <a:rPr sz="1200" b="1">
                <a:solidFill>
                  <a:srgbClr val="34866B"/>
                </a:solidFill>
              </a:rPr>
              <a:t>已实现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E2BD81-FCB8-4122-BACD-48871D7C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71925"/>
            <a:ext cx="24765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242B"/>
                </a:solidFill>
              </a:defRPr>
            </a:pPr>
            <a:r>
              <a:rPr sz="1275" b="1">
                <a:solidFill>
                  <a:srgbClr val="25242B"/>
                </a:solidFill>
              </a:rPr>
              <a:t>iPhone CloudKit/iCloud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643DB4-0A71-4E13-AE49-B505D837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71925"/>
            <a:ext cx="6591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账号隔离、outbox、冲突审阅、重试上传与恢复路径已在本地/伪客户端测试覆盖。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551B64-41D6-48C1-A033-D0767D8F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3870"/>
            <a:ext cx="10782300" cy="379095"/>
          </a:xfrm>
          <a:prstGeom xmlns:a="http://schemas.openxmlformats.org/drawingml/2006/main" prst="roundRect">
            <a:avLst>
              <a:gd name="adj" fmla="val 30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1DD127-E450-46EB-8E23-1EB48DB3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8170"/>
            <a:ext cx="990600" cy="15049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18ADB2-79B1-43FE-B4D3-4E3E6C74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7220"/>
            <a:ext cx="876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77932"/>
                </a:solidFill>
              </a:defRPr>
            </a:pPr>
            <a:r>
              <a:rPr sz="1200" b="1">
                <a:solidFill>
                  <a:srgbClr val="C77932"/>
                </a:solidFill>
              </a:rPr>
              <a:t>部分实现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96BEB8-4320-4582-A19D-8A19ECE0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27220"/>
            <a:ext cx="24765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242B"/>
                </a:solidFill>
              </a:defRPr>
            </a:pPr>
            <a:r>
              <a:rPr sz="1275" b="1">
                <a:solidFill>
                  <a:srgbClr val="25242B"/>
                </a:solidFill>
              </a:rPr>
              <a:t>Web C1 Demo/Real Journal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003EE8-C720-4FD2-B533-27484039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27220"/>
            <a:ext cx="6591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Demo 是明确的非 canonical fixture；Real 模式读取同一私有 CloudKit zone，不静默回退。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A97EA5-1D58-4632-9EEA-A5340052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9165"/>
            <a:ext cx="10782300" cy="379095"/>
          </a:xfrm>
          <a:prstGeom xmlns:a="http://schemas.openxmlformats.org/drawingml/2006/main" prst="roundRect">
            <a:avLst>
              <a:gd name="adj" fmla="val 30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A5B89B-A9AF-4795-B85C-C7B05886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3465"/>
            <a:ext cx="990600" cy="15049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8A5E82-AC5E-4819-B330-67454DF8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82515"/>
            <a:ext cx="876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77932"/>
                </a:solidFill>
              </a:defRPr>
            </a:pPr>
            <a:r>
              <a:rPr sz="1200" b="1">
                <a:solidFill>
                  <a:srgbClr val="C77932"/>
                </a:solidFill>
              </a:rPr>
              <a:t>部分实现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CD5981-A2F6-43BB-8044-38144533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82515"/>
            <a:ext cx="24765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242B"/>
                </a:solidFill>
              </a:defRPr>
            </a:pPr>
            <a:r>
              <a:rPr sz="1275" b="1">
                <a:solidFill>
                  <a:srgbClr val="25242B"/>
                </a:solidFill>
              </a:rPr>
              <a:t>Web C2 guarded writes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16CC72-0042-44A2-8248-D48D9589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82515"/>
            <a:ext cx="6591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Next Step、Learning Plan、Routine、Qualifying Proof 与 Stage Review 通过 typed atomic writer 和 change-tag guard。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874F1E-3151-47C6-B97C-CBF9F48C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4460"/>
            <a:ext cx="10782300" cy="379095"/>
          </a:xfrm>
          <a:prstGeom xmlns:a="http://schemas.openxmlformats.org/drawingml/2006/main" prst="roundRect">
            <a:avLst>
              <a:gd name="adj" fmla="val 30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ECCAE8-A479-4707-BA7D-6D8E629D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8760"/>
            <a:ext cx="990600" cy="15049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C3E31A-6416-4ABF-8303-29FC96D6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7810"/>
            <a:ext cx="876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77932"/>
                </a:solidFill>
              </a:defRPr>
            </a:pPr>
            <a:r>
              <a:rPr sz="1200" b="1">
                <a:solidFill>
                  <a:srgbClr val="C77932"/>
                </a:solidFill>
              </a:rPr>
              <a:t>部分实现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2C22AF-B9B2-4C3A-B8C2-8F128695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37810"/>
            <a:ext cx="24765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242B"/>
                </a:solidFill>
              </a:defRPr>
            </a:pPr>
            <a:r>
              <a:rPr sz="1275" b="1">
                <a:solidFill>
                  <a:srgbClr val="25242B"/>
                </a:solidFill>
              </a:rPr>
              <a:t>Sync Conflicts 与 Recoverable Drafts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D9EDEE-3352-4D6E-9C15-0C78EF64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37810"/>
            <a:ext cx="6591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三方合并展示 base/local/remote；同字段冲突必须选择，未完成草稿可在 IndexedDB/localStorage 恢复。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49BFE0-277E-4821-823F-5D8E4240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9755"/>
            <a:ext cx="10782300" cy="379095"/>
          </a:xfrm>
          <a:prstGeom xmlns:a="http://schemas.openxmlformats.org/drawingml/2006/main" prst="roundRect">
            <a:avLst>
              <a:gd name="adj" fmla="val 30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F71829-F434-4700-B616-55D81EEC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74055"/>
            <a:ext cx="990600" cy="15049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451A151-95A9-4A7E-B9F8-B5637903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3105"/>
            <a:ext cx="876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77932"/>
                </a:solidFill>
              </a:defRPr>
            </a:pPr>
            <a:r>
              <a:rPr sz="1200" b="1">
                <a:solidFill>
                  <a:srgbClr val="C77932"/>
                </a:solidFill>
              </a:rPr>
              <a:t>部分实现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A13A75-A410-4B98-9FBE-4DD63591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93105"/>
            <a:ext cx="24765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242B"/>
                </a:solidFill>
              </a:defRPr>
            </a:pPr>
            <a:r>
              <a:rPr sz="1275" b="1">
                <a:solidFill>
                  <a:srgbClr val="25242B"/>
                </a:solidFill>
              </a:rPr>
              <a:t>D1 本地自动化验收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74D0CA-62B6-4ACF-8982-AC3DE4A0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93105"/>
            <a:ext cx="659130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脚本映射 12 个 MVP 场景并运行 Swift/Web 本地检查，报告明确区分本地通过与 live gates。</a:t>
            </a:r>
          </a:p>
        </p:txBody>
      </p:sp>
    </p:spTree>
    <p:extLst>
      <p:ext uri="{BB962C8B-B14F-4D97-AF65-F5344CB8AC3E}">
        <p14:creationId xmlns:p14="http://schemas.microsoft.com/office/powerpoint/2010/main" val="4938969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D5F39-4777-422F-A756-B23C82F3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</a:defRPr>
            </a:pPr>
            <a:r>
              <a:rPr sz="1200" b="1">
                <a:solidFill>
                  <a:srgbClr val="6657D9"/>
                </a:solidFill>
              </a:rPr>
              <a:t>CLOSE</a:t>
            </a:r>
          </a:p>
        </p:txBody>
      </p:sp>
      <p:sp>
        <p:nvSpPr>
          <p:cNvPr id="2" name="wide-title-20">
            <a:extLst xmlns:a="http://schemas.openxmlformats.org/drawingml/2006/main">
              <a:ext uri="{FF2B5EF4-FFF2-40B4-BE49-F238E27FC236}">
                <a16:creationId xmlns:a16="http://schemas.microsoft.com/office/drawing/2014/main" id="{77A626B0-2B11-4552-A1AD-AF388611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42B"/>
                </a:solidFill>
              </a:defRPr>
            </a:pPr>
            <a:r>
              <a:rPr sz="3000" b="1">
                <a:solidFill>
                  <a:srgbClr val="25242B"/>
                </a:solidFill>
              </a:rPr>
              <a:t>让每次学习都留下一个可以继续的方向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0A679-4B11-4360-953D-A5F53D4A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C76"/>
                </a:solidFill>
              </a:defRPr>
            </a:pPr>
            <a:r>
              <a:rPr sz="1050" b="0">
                <a:solidFill>
                  <a:srgbClr val="6F6C76"/>
                </a:solidFill>
              </a:rPr>
              <a:t>SELF STUDY STUDIO  · 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72265-B99B-4B07-8982-B5EED471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002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77341-0673-4BA1-982F-90E3A49D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923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42B"/>
                </a:solidFill>
              </a:defRPr>
            </a:pPr>
            <a:r>
              <a:rPr sz="2850" b="1">
                <a:solidFill>
                  <a:srgbClr val="25242B"/>
                </a:solidFill>
              </a:rPr>
              <a:t>Project → Session → Proof → Review → Next 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F9EAC-DB35-427F-9476-DB4FDE5A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29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657D9"/>
                </a:solidFill>
              </a:defRPr>
            </a:pPr>
            <a:r>
              <a:rPr sz="1950" b="1">
                <a:solidFill>
                  <a:srgbClr val="6657D9"/>
                </a:solidFill>
              </a:rPr>
              <a:t>维护规则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78675-1577-4D31-AD6E-89D8C909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A805A-5E48-48FF-A8D2-85D08B90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00500"/>
            <a:ext cx="832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42B"/>
                </a:solidFill>
              </a:defRPr>
            </a:pPr>
            <a:r>
              <a:rPr sz="1575" b="0">
                <a:solidFill>
                  <a:srgbClr val="25242B"/>
                </a:solidFill>
              </a:rPr>
              <a:t>产品事实先更新 Markdown 手册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2496B-B96E-4682-B08D-9180B381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BFF33-0268-46CC-A12F-C8FDAAA9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38650"/>
            <a:ext cx="832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42B"/>
                </a:solidFill>
              </a:defRPr>
            </a:pPr>
            <a:r>
              <a:rPr sz="1575" b="0">
                <a:solidFill>
                  <a:srgbClr val="25242B"/>
                </a:solidFill>
              </a:rPr>
              <a:t>导航和规则变化同步更新 Mermaid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5DB28-7BE3-47DC-8540-A59B5E4B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9029D-E3FC-46F2-8E9F-09064545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76800"/>
            <a:ext cx="832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42B"/>
                </a:solidFill>
              </a:defRPr>
            </a:pPr>
            <a:r>
              <a:rPr sz="1575" b="0">
                <a:solidFill>
                  <a:srgbClr val="25242B"/>
                </a:solidFill>
              </a:rPr>
              <a:t>界面变化重新采集真实 Simulator 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85C44-AC2D-4A7E-9111-19A99782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68685-249C-4381-8423-C9B7AF94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14950"/>
            <a:ext cx="832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42B"/>
                </a:solidFill>
              </a:defRPr>
            </a:pPr>
            <a:r>
              <a:rPr sz="1575" b="0">
                <a:solidFill>
                  <a:srgbClr val="25242B"/>
                </a:solidFill>
              </a:rPr>
              <a:t>重新生成 PPTX 与 A4 PDF，并逐页检查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A0D99-5D60-4763-97E6-A8E51C8F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C76"/>
                </a:solidFill>
              </a:defRPr>
            </a:pPr>
            <a:r>
              <a:rPr sz="1200" b="0">
                <a:solidFill>
                  <a:srgbClr val="6F6C76"/>
                </a:solidFill>
              </a:rPr>
              <a:t>Swift 446 tests / 0 failures; Web npm test 63 / 63; build and lint pass; D1 local mappings pass while live gates remain blocked · commit d476f32</a:t>
            </a:r>
          </a:p>
        </p:txBody>
      </p:sp>
    </p:spTree>
    <p:extLst>
      <p:ext uri="{BB962C8B-B14F-4D97-AF65-F5344CB8AC3E}">
        <p14:creationId xmlns:p14="http://schemas.microsoft.com/office/powerpoint/2010/main" val="1614920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2026-08-09T03:33:22.5260000Z</dcterms:created>
  <dcterms:modified xsi:type="dcterms:W3CDTF">2026-08-09T03:33:22.5260000Z</dcterms:modified>
</coreProperties>
</file>