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1ea441abc248c3" /><Relationship Type="http://schemas.openxmlformats.org/officeDocument/2006/relationships/extended-properties" Target="/docProps/app.xml" Id="R08b6c9b53c9f43e0" /><Relationship Type="http://schemas.openxmlformats.org/officeDocument/2006/relationships/officeDocument" Target="/ppt/presentation.xml" Id="R255fb81b49cc47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d930e73d17418b"/>
  </p:sldMasterIdLst>
  <p:notesMasterIdLst>
    <p:notesMasterId xmlns:r="http://schemas.openxmlformats.org/officeDocument/2006/relationships" r:id="R208278a41e9547c4"/>
  </p:notesMasterIdLst>
  <p:sldIdLst>
    <p:sldId xmlns:r="http://schemas.openxmlformats.org/officeDocument/2006/relationships" id="256" r:id="Rebbd0ede36014749"/>
    <p:sldId xmlns:r="http://schemas.openxmlformats.org/officeDocument/2006/relationships" id="257" r:id="R2e0600cf1ef3406c"/>
    <p:sldId xmlns:r="http://schemas.openxmlformats.org/officeDocument/2006/relationships" id="258" r:id="R237ea43178bb4ec1"/>
    <p:sldId xmlns:r="http://schemas.openxmlformats.org/officeDocument/2006/relationships" id="259" r:id="R03fd30c0d64a4fd2"/>
    <p:sldId xmlns:r="http://schemas.openxmlformats.org/officeDocument/2006/relationships" id="260" r:id="R498f82db1a1e42d7"/>
    <p:sldId xmlns:r="http://schemas.openxmlformats.org/officeDocument/2006/relationships" id="261" r:id="R0d017f4d26f140ee"/>
    <p:sldId xmlns:r="http://schemas.openxmlformats.org/officeDocument/2006/relationships" id="262" r:id="R2be8bd6161914a77"/>
    <p:sldId xmlns:r="http://schemas.openxmlformats.org/officeDocument/2006/relationships" id="263" r:id="R5944f61268b144be"/>
    <p:sldId xmlns:r="http://schemas.openxmlformats.org/officeDocument/2006/relationships" id="264" r:id="R78c3c4f4d3834dbb"/>
    <p:sldId xmlns:r="http://schemas.openxmlformats.org/officeDocument/2006/relationships" id="265" r:id="Rd5deac234a1a4171"/>
    <p:sldId xmlns:r="http://schemas.openxmlformats.org/officeDocument/2006/relationships" id="266" r:id="Rb23836555b094467"/>
    <p:sldId xmlns:r="http://schemas.openxmlformats.org/officeDocument/2006/relationships" id="267" r:id="R8f0b54e538234a22"/>
    <p:sldId xmlns:r="http://schemas.openxmlformats.org/officeDocument/2006/relationships" id="268" r:id="R975a87f2fe184860"/>
    <p:sldId xmlns:r="http://schemas.openxmlformats.org/officeDocument/2006/relationships" id="269" r:id="Rf5a7da7df33048aa"/>
    <p:sldId xmlns:r="http://schemas.openxmlformats.org/officeDocument/2006/relationships" id="270" r:id="R18068438f92c4d65"/>
    <p:sldId xmlns:r="http://schemas.openxmlformats.org/officeDocument/2006/relationships" id="271" r:id="R8b97187cb0204d73"/>
    <p:sldId xmlns:r="http://schemas.openxmlformats.org/officeDocument/2006/relationships" id="272" r:id="R4d65fa46c1f74543"/>
    <p:sldId xmlns:r="http://schemas.openxmlformats.org/officeDocument/2006/relationships" id="273" r:id="R40a38dd3d452402f"/>
    <p:sldId xmlns:r="http://schemas.openxmlformats.org/officeDocument/2006/relationships" id="274" r:id="R89fa502f1bfa4bc7"/>
    <p:sldId xmlns:r="http://schemas.openxmlformats.org/officeDocument/2006/relationships" id="275" r:id="R8e64a97d872b46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efaf5239f24cef" /><Relationship Type="http://schemas.openxmlformats.org/officeDocument/2006/relationships/slideMaster" Target="/ppt/slideMasters/slideMaster1.xml" Id="R6ad930e73d17418b" /><Relationship Type="http://schemas.openxmlformats.org/officeDocument/2006/relationships/notesMaster" Target="/ppt/notesMasters/notesMaster1.xml" Id="R208278a41e9547c4" /><Relationship Type="http://schemas.openxmlformats.org/officeDocument/2006/relationships/presProps" Target="/ppt/presProps.xml" Id="R74388185884444a3" /><Relationship Type="http://schemas.openxmlformats.org/officeDocument/2006/relationships/tableStyles" Target="/ppt/tableStyles.xml" Id="R6b8a7a7ab3e945bb" /><Relationship Type="http://schemas.openxmlformats.org/officeDocument/2006/relationships/slide" Target="/ppt/slides/slide1.xml" Id="Rebbd0ede36014749" /><Relationship Type="http://schemas.openxmlformats.org/officeDocument/2006/relationships/slide" Target="/ppt/slides/slide2.xml" Id="R2e0600cf1ef3406c" /><Relationship Type="http://schemas.openxmlformats.org/officeDocument/2006/relationships/slide" Target="/ppt/slides/slide3.xml" Id="R237ea43178bb4ec1" /><Relationship Type="http://schemas.openxmlformats.org/officeDocument/2006/relationships/slide" Target="/ppt/slides/slide4.xml" Id="R03fd30c0d64a4fd2" /><Relationship Type="http://schemas.openxmlformats.org/officeDocument/2006/relationships/slide" Target="/ppt/slides/slide5.xml" Id="R498f82db1a1e42d7" /><Relationship Type="http://schemas.openxmlformats.org/officeDocument/2006/relationships/slide" Target="/ppt/slides/slide6.xml" Id="R0d017f4d26f140ee" /><Relationship Type="http://schemas.openxmlformats.org/officeDocument/2006/relationships/slide" Target="/ppt/slides/slide7.xml" Id="R2be8bd6161914a77" /><Relationship Type="http://schemas.openxmlformats.org/officeDocument/2006/relationships/slide" Target="/ppt/slides/slide8.xml" Id="R5944f61268b144be" /><Relationship Type="http://schemas.openxmlformats.org/officeDocument/2006/relationships/slide" Target="/ppt/slides/slide9.xml" Id="R78c3c4f4d3834dbb" /><Relationship Type="http://schemas.openxmlformats.org/officeDocument/2006/relationships/slide" Target="/ppt/slides/slide10.xml" Id="Rd5deac234a1a4171" /><Relationship Type="http://schemas.openxmlformats.org/officeDocument/2006/relationships/slide" Target="/ppt/slides/slide11.xml" Id="Rb23836555b094467" /><Relationship Type="http://schemas.openxmlformats.org/officeDocument/2006/relationships/slide" Target="/ppt/slides/slide12.xml" Id="R8f0b54e538234a22" /><Relationship Type="http://schemas.openxmlformats.org/officeDocument/2006/relationships/slide" Target="/ppt/slides/slide13.xml" Id="R975a87f2fe184860" /><Relationship Type="http://schemas.openxmlformats.org/officeDocument/2006/relationships/slide" Target="/ppt/slides/slide14.xml" Id="Rf5a7da7df33048aa" /><Relationship Type="http://schemas.openxmlformats.org/officeDocument/2006/relationships/slide" Target="/ppt/slides/slide15.xml" Id="R18068438f92c4d65" /><Relationship Type="http://schemas.openxmlformats.org/officeDocument/2006/relationships/slide" Target="/ppt/slides/slide16.xml" Id="R8b97187cb0204d73" /><Relationship Type="http://schemas.openxmlformats.org/officeDocument/2006/relationships/slide" Target="/ppt/slides/slide17.xml" Id="R4d65fa46c1f74543" /><Relationship Type="http://schemas.openxmlformats.org/officeDocument/2006/relationships/slide" Target="/ppt/slides/slide18.xml" Id="R40a38dd3d452402f" /><Relationship Type="http://schemas.openxmlformats.org/officeDocument/2006/relationships/slide" Target="/ppt/slides/slide19.xml" Id="R89fa502f1bfa4bc7" /><Relationship Type="http://schemas.openxmlformats.org/officeDocument/2006/relationships/slide" Target="/ppt/slides/slide20.xml" Id="R8e64a97d872b46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8cd1052bf48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989de108fd49cb" /><Relationship Type="http://schemas.openxmlformats.org/officeDocument/2006/relationships/notesMaster" Target="/ppt/notesMasters/notesMaster1.xml" Id="R16c14175327f46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76dee56c3449fd" /><Relationship Type="http://schemas.openxmlformats.org/officeDocument/2006/relationships/notesMaster" Target="/ppt/notesMasters/notesMaster1.xml" Id="R5bd2ffd3878845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2a24495cd94fe9" /><Relationship Type="http://schemas.openxmlformats.org/officeDocument/2006/relationships/notesMaster" Target="/ppt/notesMasters/notesMaster1.xml" Id="Re3a6b2d00bc84d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1e69fbd91b4340" /><Relationship Type="http://schemas.openxmlformats.org/officeDocument/2006/relationships/notesMaster" Target="/ppt/notesMasters/notesMaster1.xml" Id="R449ce9676a6e40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1280c4e8de4b58" /><Relationship Type="http://schemas.openxmlformats.org/officeDocument/2006/relationships/notesMaster" Target="/ppt/notesMasters/notesMaster1.xml" Id="R601896169de349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de8d17b681426e" /><Relationship Type="http://schemas.openxmlformats.org/officeDocument/2006/relationships/notesMaster" Target="/ppt/notesMasters/notesMaster1.xml" Id="R680b5d0ecb2c4a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cf020435114f00" /><Relationship Type="http://schemas.openxmlformats.org/officeDocument/2006/relationships/notesMaster" Target="/ppt/notesMasters/notesMaster1.xml" Id="R2c1024e20e234d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cae009f9814802" /><Relationship Type="http://schemas.openxmlformats.org/officeDocument/2006/relationships/notesMaster" Target="/ppt/notesMasters/notesMaster1.xml" Id="R88694908391c40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eb5f0edfa149b8" /><Relationship Type="http://schemas.openxmlformats.org/officeDocument/2006/relationships/notesMaster" Target="/ppt/notesMasters/notesMaster1.xml" Id="Rd4a523f501b046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c3b37996964445" /><Relationship Type="http://schemas.openxmlformats.org/officeDocument/2006/relationships/notesMaster" Target="/ppt/notesMasters/notesMaster1.xml" Id="Ra4362d2fe79348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03ace36a884f0b" /><Relationship Type="http://schemas.openxmlformats.org/officeDocument/2006/relationships/notesMaster" Target="/ppt/notesMasters/notesMaster1.xml" Id="R828d15fcb63c4e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519698ecd0459b" /><Relationship Type="http://schemas.openxmlformats.org/officeDocument/2006/relationships/notesMaster" Target="/ppt/notesMasters/notesMaster1.xml" Id="R722334e3997143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2b77781d5f407c" /><Relationship Type="http://schemas.openxmlformats.org/officeDocument/2006/relationships/notesMaster" Target="/ppt/notesMasters/notesMaster1.xml" Id="R75a4b4f1d9554a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0f77e494964241" /><Relationship Type="http://schemas.openxmlformats.org/officeDocument/2006/relationships/notesMaster" Target="/ppt/notesMasters/notesMaster1.xml" Id="R33fd9b0d8b8e40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766cd21c23f4206" /><Relationship Type="http://schemas.openxmlformats.org/officeDocument/2006/relationships/notesMaster" Target="/ppt/notesMasters/notesMaster1.xml" Id="Raab20396c1114ac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270c0ccdd44904" /><Relationship Type="http://schemas.openxmlformats.org/officeDocument/2006/relationships/notesMaster" Target="/ppt/notesMasters/notesMaster1.xml" Id="R0871b92974134ee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5a0ed60c8c4132" /><Relationship Type="http://schemas.openxmlformats.org/officeDocument/2006/relationships/notesMaster" Target="/ppt/notesMasters/notesMaster1.xml" Id="Rdbbf23b775d647c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cba936962fc4eb7" /><Relationship Type="http://schemas.openxmlformats.org/officeDocument/2006/relationships/notesMaster" Target="/ppt/notesMasters/notesMaster1.xml" Id="Rcb606370d1c4426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adcd56f085b45b2" /><Relationship Type="http://schemas.openxmlformats.org/officeDocument/2006/relationships/notesMaster" Target="/ppt/notesMasters/notesMaster1.xml" Id="R3d93b1b903174b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ab4154f5bb54bf2" /><Relationship Type="http://schemas.openxmlformats.org/officeDocument/2006/relationships/notesMaster" Target="/ppt/notesMasters/notesMaster1.xml" Id="R956d16ffdc3149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c05e47a0e48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8a37b3f2bf4766" /><Relationship Type="http://schemas.openxmlformats.org/officeDocument/2006/relationships/slideLayout" Target="/ppt/slideLayouts/slideLayout1.xml" Id="Rb5e8444d3f8245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e8444d3f8245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568cd9b6046ef" /><Relationship Type="http://schemas.openxmlformats.org/officeDocument/2006/relationships/notesSlide" Target="/ppt/notesSlides/notesSlide1.xml" Id="Rce4dc86a74344f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f91a6baf348d5" /><Relationship Type="http://schemas.openxmlformats.org/officeDocument/2006/relationships/notesSlide" Target="/ppt/notesSlides/notesSlide2.xml" Id="R118cf5f0e80844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43895474b40a3" /><Relationship Type="http://schemas.openxmlformats.org/officeDocument/2006/relationships/image" Target="/ppt/media/image.png" Id="R71d0615085094191" /><Relationship Type="http://schemas.openxmlformats.org/officeDocument/2006/relationships/notesSlide" Target="/ppt/notesSlides/notesSlide3.xml" Id="Rb70593b524e447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abf5f70424d71" /><Relationship Type="http://schemas.openxmlformats.org/officeDocument/2006/relationships/notesSlide" Target="/ppt/notesSlides/notesSlide4.xml" Id="R839228f82bf441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62e0f016d489d" /><Relationship Type="http://schemas.openxmlformats.org/officeDocument/2006/relationships/notesSlide" Target="/ppt/notesSlides/notesSlide5.xml" Id="R96ca29a049e14e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9c01d170e4c14" /><Relationship Type="http://schemas.openxmlformats.org/officeDocument/2006/relationships/image" Target="/ppt/media/image2.png" Id="R5f0e9d54433a47d1" /><Relationship Type="http://schemas.openxmlformats.org/officeDocument/2006/relationships/notesSlide" Target="/ppt/notesSlides/notesSlide6.xml" Id="Rff1bb7739d0d4f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a3ec0fe934f17" /><Relationship Type="http://schemas.openxmlformats.org/officeDocument/2006/relationships/image" Target="/ppt/media/image3.png" Id="Rec9636e86d9a46c0" /><Relationship Type="http://schemas.openxmlformats.org/officeDocument/2006/relationships/notesSlide" Target="/ppt/notesSlides/notesSlide7.xml" Id="R2ab8f219d25a4c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2683172d44ef3" /><Relationship Type="http://schemas.openxmlformats.org/officeDocument/2006/relationships/image" Target="/ppt/media/image4.png" Id="Rf56e45baf8b8404a" /><Relationship Type="http://schemas.openxmlformats.org/officeDocument/2006/relationships/notesSlide" Target="/ppt/notesSlides/notesSlide8.xml" Id="R6c7cd1ff2e0148c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30029bcdc418e" /><Relationship Type="http://schemas.openxmlformats.org/officeDocument/2006/relationships/image" Target="/ppt/media/image5.png" Id="R0bbfff5a1bfc4aee" /><Relationship Type="http://schemas.openxmlformats.org/officeDocument/2006/relationships/notesSlide" Target="/ppt/notesSlides/notesSlide9.xml" Id="R2dca98e07bd24c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eea65959046f1" /><Relationship Type="http://schemas.openxmlformats.org/officeDocument/2006/relationships/image" Target="/ppt/media/image6.png" Id="R17697fbd2cc145e8" /><Relationship Type="http://schemas.openxmlformats.org/officeDocument/2006/relationships/image" Target="/ppt/media/image7.png" Id="Reccbbaae0f294d23" /><Relationship Type="http://schemas.openxmlformats.org/officeDocument/2006/relationships/image" Target="/ppt/media/image8.png" Id="R1fe7918653f540bf" /><Relationship Type="http://schemas.openxmlformats.org/officeDocument/2006/relationships/notesSlide" Target="/ppt/notesSlides/notesSlide10.xml" Id="R734c531565904f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9ccb2bea94359" /><Relationship Type="http://schemas.openxmlformats.org/officeDocument/2006/relationships/image" Target="/ppt/media/image9.png" Id="R9861e69d728947df" /><Relationship Type="http://schemas.openxmlformats.org/officeDocument/2006/relationships/notesSlide" Target="/ppt/notesSlides/notesSlide11.xml" Id="R6b6a748c5f90407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960b7f8b14cf8" /><Relationship Type="http://schemas.openxmlformats.org/officeDocument/2006/relationships/image" Target="/ppt/media/image10.png" Id="R4b24d78d9153459f" /><Relationship Type="http://schemas.openxmlformats.org/officeDocument/2006/relationships/notesSlide" Target="/ppt/notesSlides/notesSlide12.xml" Id="Rf01764d4236844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a84607b874a65" /><Relationship Type="http://schemas.openxmlformats.org/officeDocument/2006/relationships/image" Target="/ppt/media/image11.png" Id="Rde34f46d51874727" /><Relationship Type="http://schemas.openxmlformats.org/officeDocument/2006/relationships/image" Target="/ppt/media/image12.png" Id="R9002ad39e2844eba" /><Relationship Type="http://schemas.openxmlformats.org/officeDocument/2006/relationships/notesSlide" Target="/ppt/notesSlides/notesSlide13.xml" Id="Rb4fe2810969a47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a1ab0ec664b7b" /><Relationship Type="http://schemas.openxmlformats.org/officeDocument/2006/relationships/image" Target="/ppt/media/image13.png" Id="R26aa636123994bc4" /><Relationship Type="http://schemas.openxmlformats.org/officeDocument/2006/relationships/notesSlide" Target="/ppt/notesSlides/notesSlide14.xml" Id="R88f74ff5a65343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a935f444b47b2" /><Relationship Type="http://schemas.openxmlformats.org/officeDocument/2006/relationships/image" Target="/ppt/media/image14.png" Id="R4b3cf5f8d1ab4175" /><Relationship Type="http://schemas.openxmlformats.org/officeDocument/2006/relationships/image" Target="/ppt/media/image15.png" Id="R63f464fa670f405c" /><Relationship Type="http://schemas.openxmlformats.org/officeDocument/2006/relationships/notesSlide" Target="/ppt/notesSlides/notesSlide15.xml" Id="R68bb45c4976347d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ead376e0c46cf" /><Relationship Type="http://schemas.openxmlformats.org/officeDocument/2006/relationships/image" Target="/ppt/media/image16.png" Id="R3607a4bd634b4b45" /><Relationship Type="http://schemas.openxmlformats.org/officeDocument/2006/relationships/notesSlide" Target="/ppt/notesSlides/notesSlide16.xml" Id="R7a1fd360762e414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5c075f2914e83" /><Relationship Type="http://schemas.openxmlformats.org/officeDocument/2006/relationships/image" Target="/ppt/media/image17.png" Id="Rfc0b02fd8d1e4b4d" /><Relationship Type="http://schemas.openxmlformats.org/officeDocument/2006/relationships/image" Target="/ppt/media/image18.png" Id="Re2b7f7e2260f4ccf" /><Relationship Type="http://schemas.openxmlformats.org/officeDocument/2006/relationships/notesSlide" Target="/ppt/notesSlides/notesSlide17.xml" Id="Rd2b8321fcbdf4a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e7d230998438d" /><Relationship Type="http://schemas.openxmlformats.org/officeDocument/2006/relationships/image" Target="/ppt/media/image19.png" Id="R7efd8ea7a5214953" /><Relationship Type="http://schemas.openxmlformats.org/officeDocument/2006/relationships/notesSlide" Target="/ppt/notesSlides/notesSlide18.xml" Id="R6fa1553d632a4a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c2282d8ff46ef" /><Relationship Type="http://schemas.openxmlformats.org/officeDocument/2006/relationships/notesSlide" Target="/ppt/notesSlides/notesSlide19.xml" Id="R25b9cf28795543f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2b56388f641ec" /><Relationship Type="http://schemas.openxmlformats.org/officeDocument/2006/relationships/notesSlide" Target="/ppt/notesSlides/notesSlide20.xml" Id="R0534a6cefcdf40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D1B1BE-F608-4655-A75C-DA5956DB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57D9"/>
                </a:solidFill>
              </a:defRPr>
            </a:pPr>
            <a:r>
              <a:rPr sz="1350" b="1">
                <a:solidFill>
                  <a:srgbClr val="6657D9"/>
                </a:solidFill>
              </a:rPr>
              <a:t>SELF STUDY STUDIO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DA6468B-C7FE-4CDA-94F1-336B678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25242B"/>
                </a:solidFill>
              </a:defRPr>
            </a:pPr>
            <a:r>
              <a:rPr sz="4650" b="1">
                <a:solidFill>
                  <a:srgbClr val="25242B"/>
                </a:solidFill>
              </a:rPr>
              <a:t>学习记录的目的，</a:t>
            </a:r>
          </a:p>
          <a:p xmlns:a="http://schemas.openxmlformats.org/drawingml/2006/main">
            <a:pPr algn="l">
              <a:defRPr sz="4650" b="1">
                <a:solidFill>
                  <a:srgbClr val="25242B"/>
                </a:solidFill>
              </a:defRPr>
            </a:pPr>
            <a:r>
              <a:rPr sz="4650" b="1">
                <a:solidFill>
                  <a:srgbClr val="25242B"/>
                </a:solidFill>
              </a:rPr>
              <a:t>是决定下一步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93ED9-F419-4ACB-8798-44E364CC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666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F6C76"/>
                </a:solidFill>
              </a:defRPr>
            </a:pPr>
            <a:r>
              <a:rPr sz="1950" b="0">
                <a:solidFill>
                  <a:srgbClr val="6F6C76"/>
                </a:solidFill>
              </a:rPr>
              <a:t>一个帮助个人学习者把行动、证据和复盘串成下一步决定的本地优先学习日志。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27617-6CC4-4E72-84CA-8325453D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047750"/>
            <a:ext cx="2381250" cy="4286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E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63063-5A24-424E-AE11-8BFD67F1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409700"/>
            <a:ext cx="18478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Project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Session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Proof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731AC-7252-4650-98D9-61888A95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产品功能说明 · v1.0 · 2026-07-13</a:t>
            </a:r>
          </a:p>
        </p:txBody>
      </p:sp>
    </p:spTree>
    <p:extLst>
      <p:ext uri="{BB962C8B-B14F-4D97-AF65-F5344CB8AC3E}">
        <p14:creationId xmlns:p14="http://schemas.microsoft.com/office/powerpoint/2010/main" val="1063126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A8EFF3-4887-42C8-BEC5-BE4A443F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WHY</a:t>
            </a:r>
          </a:p>
        </p:txBody>
      </p:sp>
      <p:sp>
        <p:nvSpPr>
          <p:cNvPr id="2" name="wide-title-2">
            <a:extLst xmlns:a="http://schemas.openxmlformats.org/drawingml/2006/main">
              <a:ext uri="{FF2B5EF4-FFF2-40B4-BE49-F238E27FC236}">
                <a16:creationId xmlns:a16="http://schemas.microsoft.com/office/drawing/2014/main" id="{DAB06759-427B-4BD7-AC86-1A6EE762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零散记录无法自动变成下一步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FEB88-0548-4119-B9B0-5922E139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910BC-2BFC-4C8E-82E7-2B84EB5B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9BDB0-3382-4CD2-BC22-7B9CD09A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714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42B"/>
                </a:solidFill>
              </a:defRPr>
            </a:pPr>
            <a:r>
              <a:rPr sz="2250" b="1">
                <a:solidFill>
                  <a:srgbClr val="25242B"/>
                </a:solidFill>
              </a:rPr>
              <a:t>真正缺少的不是更多笔记，而是能支持下一次行动的学习轨迹。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0250A-B964-49D8-9F28-0DB04A48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57D9"/>
                </a:solidFill>
              </a:defRPr>
            </a:pPr>
            <a:r>
              <a:rPr sz="1800" b="1">
                <a:solidFill>
                  <a:srgbClr val="6657D9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E6645-5CC1-458A-B752-5B03D3EB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242B"/>
                </a:solidFill>
              </a:defRPr>
            </a:pPr>
            <a:r>
              <a:rPr sz="2100" b="1">
                <a:solidFill>
                  <a:srgbClr val="25242B"/>
                </a:solidFill>
              </a:rPr>
              <a:t>这周真正做了什么？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5FFA0-7E5F-42B9-A375-DD186C9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57D9"/>
                </a:solidFill>
              </a:defRPr>
            </a:pPr>
            <a:r>
              <a:rPr sz="1800" b="1">
                <a:solidFill>
                  <a:srgbClr val="6657D9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A11BB6-6709-4820-96D2-A21855EF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242B"/>
                </a:solidFill>
              </a:defRPr>
            </a:pPr>
            <a:r>
              <a:rPr sz="2100" b="1">
                <a:solidFill>
                  <a:srgbClr val="25242B"/>
                </a:solidFill>
              </a:rPr>
              <a:t>哪些结果能证明学习发生了？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EAFCC-CC83-42FF-8CD0-8817B683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57D9"/>
                </a:solidFill>
              </a:defRPr>
            </a:pPr>
            <a:r>
              <a:rPr sz="1800" b="1">
                <a:solidFill>
                  <a:srgbClr val="6657D9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20D24-128C-42C4-8452-0C416C70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0535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242B"/>
                </a:solidFill>
              </a:defRPr>
            </a:pPr>
            <a:r>
              <a:rPr sz="2100" b="1">
                <a:solidFill>
                  <a:srgbClr val="25242B"/>
                </a:solidFill>
              </a:rPr>
              <a:t>下一次打开项目时应该做什么？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69ED6-8E2D-44B6-AEBB-C19500E1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76600"/>
            <a:ext cx="247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657D9"/>
                </a:solidFill>
              </a:defRPr>
            </a:pPr>
            <a:r>
              <a:rPr sz="1875" b="1">
                <a:solidFill>
                  <a:srgbClr val="6657D9"/>
                </a:solidFill>
              </a:rPr>
              <a:t>产品回答：Next Step → Session → Proof → Review</a:t>
            </a:r>
          </a:p>
        </p:txBody>
      </p:sp>
    </p:spTree>
    <p:extLst>
      <p:ext uri="{BB962C8B-B14F-4D97-AF65-F5344CB8AC3E}">
        <p14:creationId xmlns:p14="http://schemas.microsoft.com/office/powerpoint/2010/main" val="17060299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263253-E345-4680-A836-75843B50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CORE LOOP</a:t>
            </a:r>
          </a:p>
        </p:txBody>
      </p:sp>
      <p:sp>
        <p:nvSpPr>
          <p:cNvPr id="2" name="wide-title-3">
            <a:extLst xmlns:a="http://schemas.openxmlformats.org/drawingml/2006/main">
              <a:ext uri="{FF2B5EF4-FFF2-40B4-BE49-F238E27FC236}">
                <a16:creationId xmlns:a16="http://schemas.microsoft.com/office/drawing/2014/main" id="{0CA7B709-185F-43A3-B08A-D84C8D7D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行动、证据和复盘形成一个闭环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46006-F0A6-475D-8C01-A4BDAF76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39877-B1CC-4BEC-A09B-3608530A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0615085094191"/>
          <a:stretch xmlns:a="http://schemas.openxmlformats.org/drawingml/2006/main"/>
        </p:blipFill>
        <p:spPr>
          <a:xfrm xmlns:a="http://schemas.openxmlformats.org/drawingml/2006/main">
            <a:off x="933450" y="2969355"/>
            <a:ext cx="10325100" cy="145269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2E9F0-D2D6-4BC1-95C4-1EF90304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Quick Log 与 Timer 都生成 Session；Review 只有在用户确认后才改变 Project。</a:t>
            </a:r>
          </a:p>
        </p:txBody>
      </p:sp>
    </p:spTree>
    <p:extLst>
      <p:ext uri="{BB962C8B-B14F-4D97-AF65-F5344CB8AC3E}">
        <p14:creationId xmlns:p14="http://schemas.microsoft.com/office/powerpoint/2010/main" val="792826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D8E45C-07D7-46DF-B450-4A02D7A8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PRINCIPLES</a:t>
            </a:r>
          </a:p>
        </p:txBody>
      </p:sp>
      <p:sp>
        <p:nvSpPr>
          <p:cNvPr id="2" name="wide-title-4">
            <a:extLst xmlns:a="http://schemas.openxmlformats.org/drawingml/2006/main">
              <a:ext uri="{FF2B5EF4-FFF2-40B4-BE49-F238E27FC236}">
                <a16:creationId xmlns:a16="http://schemas.microsoft.com/office/drawing/2014/main" id="{1228FC1B-735D-4347-AED8-B9B9F2FA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六条原则让记录保持低摩擦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54F2F-8BDB-4993-B014-8A6435F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FA830-9560-4A4B-9247-3F8E43FD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AFC61-43D0-49F5-94D7-DF635690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43100"/>
            <a:ext cx="470535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手机优先，入口少而短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E13EC-0A20-4BFB-9DA8-8BA72ECB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162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07F19D-D0DC-4AFE-8006-EB5EC2F3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40050"/>
            <a:ext cx="470535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继续学习优先于整理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585C27-7312-4064-BF1C-3A16DB54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32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7ED4C-20A6-4954-A434-737463E5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37000"/>
            <a:ext cx="470535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Proof 比完成百分比更重要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F89A3-30C1-4D84-992E-8C1005D4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478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BA01A-9EB8-486A-A064-A0EC257A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193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6218E-9A9C-4B99-98AC-B753B685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43100"/>
            <a:ext cx="44196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日常记录与阶段判断分离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252F5-4FD7-4869-A8F2-C9AE273B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162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47EF5-2ACD-46FE-ABF0-6717FABE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40050"/>
            <a:ext cx="44196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AI 不进入日常主流程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4D19B-20FC-446C-9FC3-4262705F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132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000E8D-C102-4A1C-ABB8-1A0F6DB9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37000"/>
            <a:ext cx="44196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42B"/>
                </a:solidFill>
              </a:defRPr>
            </a:pPr>
            <a:r>
              <a:rPr sz="1875" b="0">
                <a:solidFill>
                  <a:srgbClr val="25242B"/>
                </a:solidFill>
              </a:rPr>
              <a:t>本地优先，数据可以带走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7324E-DF17-48B7-917F-BB3656C4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657D9"/>
                </a:solidFill>
              </a:defRPr>
            </a:pPr>
            <a:r>
              <a:rPr sz="2100" b="1">
                <a:solidFill>
                  <a:srgbClr val="6657D9"/>
                </a:solidFill>
              </a:rPr>
              <a:t>减少维护负担，保留决策价值。</a:t>
            </a:r>
          </a:p>
        </p:txBody>
      </p:sp>
    </p:spTree>
    <p:extLst>
      <p:ext uri="{BB962C8B-B14F-4D97-AF65-F5344CB8AC3E}">
        <p14:creationId xmlns:p14="http://schemas.microsoft.com/office/powerpoint/2010/main" val="1777137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9571DB-3892-42E4-B323-630E40C7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LANGUAGE</a:t>
            </a:r>
          </a:p>
        </p:txBody>
      </p:sp>
      <p:sp>
        <p:nvSpPr>
          <p:cNvPr id="2" name="wide-title-5">
            <a:extLst xmlns:a="http://schemas.openxmlformats.org/drawingml/2006/main">
              <a:ext uri="{FF2B5EF4-FFF2-40B4-BE49-F238E27FC236}">
                <a16:creationId xmlns:a16="http://schemas.microsoft.com/office/drawing/2014/main" id="{9C2F34C3-32FE-41D0-9633-F7DFE7C7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六个概念各自承担一种产品责任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92AB2-DA81-4366-92B5-60EC6D19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B02D3-6AB5-4821-9A47-4AC13723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5AE81-6A2E-404B-BFAA-4C5E2ED0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一个持续学习目标及其当前状态。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65040-6039-40DE-A67B-811A3638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907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D4CB"/>
                </a:solidFill>
              </a:defRPr>
            </a:pPr>
            <a:r>
              <a:rPr sz="1800" b="0">
                <a:solidFill>
                  <a:srgbClr val="D9D4C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0C69DC-229F-462C-A3A0-B99B0C0E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152650"/>
            <a:ext cx="175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57D9"/>
                </a:solidFill>
              </a:defRPr>
            </a:pPr>
            <a:r>
              <a:rPr sz="1800" b="1">
                <a:solidFill>
                  <a:srgbClr val="6657D9"/>
                </a:solidFill>
              </a:rPr>
              <a:t>Next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04F7BF-CB25-4764-8999-CF81F55E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43200"/>
            <a:ext cx="16002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下一次打开 App 时可以直接执行的具体动作。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A5961-BA9E-4329-9A35-4665A256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907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D4CB"/>
                </a:solidFill>
              </a:defRPr>
            </a:pPr>
            <a:r>
              <a:rPr sz="1800" b="0">
                <a:solidFill>
                  <a:srgbClr val="D9D4C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25343-7416-4894-8FE0-0B1DB5C6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526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Session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F4AD8-7EF4-43AD-AEC1-58EB4BD0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4320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一次已发生的学习行动，由 Quick Log 或 Timer 生成。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7998B-3BBA-40D1-9323-76DD650A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907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D4CB"/>
                </a:solidFill>
              </a:defRPr>
            </a:pPr>
            <a:r>
              <a:rPr sz="1800" b="0">
                <a:solidFill>
                  <a:srgbClr val="D9D4C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5B2AB-385C-4C84-865A-D7ECCFD5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5232F-430F-432B-AC24-0723AC32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带有“这证明了什么”说明的图片、录音、文件或链接。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CC82D-F9B7-4011-BC4B-73AC31DB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907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D4CB"/>
                </a:solidFill>
              </a:defRPr>
            </a:pPr>
            <a:r>
              <a:rPr sz="1800" b="0">
                <a:solidFill>
                  <a:srgbClr val="D9D4CB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1DA1B-EA4A-4693-9B08-ECB79FC0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526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Trail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CCAB83-5B97-4089-8105-25E850E0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4320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Session、Proof、Next Step、状态和 Review 组成的项目时间线。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1B355-2798-42C2-A266-7EE1EE66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907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D4CB"/>
                </a:solidFill>
              </a:defRPr>
            </a:pPr>
            <a:r>
              <a:rPr sz="1800" b="0">
                <a:solidFill>
                  <a:srgbClr val="D9D4C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8FD8C-312F-43DE-91F5-004FAE6F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526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70A887-0ED0-420F-90BC-5B852824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43200"/>
            <a:ext cx="1466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F6C76"/>
                </a:solidFill>
              </a:defRPr>
            </a:pPr>
            <a:r>
              <a:rPr sz="1350" b="0">
                <a:solidFill>
                  <a:srgbClr val="6F6C76"/>
                </a:solidFill>
              </a:rPr>
              <a:t>把近期证据整理为 Facts、Patterns、Decisions 与 Next Steps 的阶段判断。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066944-C766-4684-8B8D-070FCCEE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53000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A371C0-6DEB-4BCA-A038-70BC3349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71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242B"/>
                </a:solidFill>
              </a:defRPr>
            </a:pPr>
            <a:r>
              <a:rPr sz="2100" b="1">
                <a:solidFill>
                  <a:srgbClr val="25242B"/>
                </a:solidFill>
              </a:rPr>
              <a:t>Session 负责事实，Proof 负责证据，Review 负责决定。</a:t>
            </a:r>
          </a:p>
        </p:txBody>
      </p:sp>
    </p:spTree>
    <p:extLst>
      <p:ext uri="{BB962C8B-B14F-4D97-AF65-F5344CB8AC3E}">
        <p14:creationId xmlns:p14="http://schemas.microsoft.com/office/powerpoint/2010/main" val="21331137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60D446-AAD3-45F8-9F71-F793EC7F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INFORMATION ARCHITECTURE</a:t>
            </a:r>
          </a:p>
        </p:txBody>
      </p:sp>
      <p:sp>
        <p:nvSpPr>
          <p:cNvPr id="2" name="wide-title-6">
            <a:extLst xmlns:a="http://schemas.openxmlformats.org/drawingml/2006/main">
              <a:ext uri="{FF2B5EF4-FFF2-40B4-BE49-F238E27FC236}">
                <a16:creationId xmlns:a16="http://schemas.microsoft.com/office/drawing/2014/main" id="{DCB8D485-A11A-496A-B7C8-AF5ADD4C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三个主入口覆盖完整 v0.1 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F1CEC-AF07-4708-A077-0431080F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55E18-2612-481F-95B1-83E5E41B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e9d54433a47d1"/>
          <a:stretch xmlns:a="http://schemas.openxmlformats.org/drawingml/2006/main"/>
        </p:blipFill>
        <p:spPr>
          <a:xfrm xmlns:a="http://schemas.openxmlformats.org/drawingml/2006/main">
            <a:off x="2596779" y="1695450"/>
            <a:ext cx="6998442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29AAD-01CD-4A71-A699-69200FCA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AI Review Settings 是条件性入口；Calendar、Course Plan 和 Cloud Sync 不在当前导航。</a:t>
            </a:r>
          </a:p>
        </p:txBody>
      </p:sp>
    </p:spTree>
    <p:extLst>
      <p:ext uri="{BB962C8B-B14F-4D97-AF65-F5344CB8AC3E}">
        <p14:creationId xmlns:p14="http://schemas.microsoft.com/office/powerpoint/2010/main" val="1668818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3C86B2-D1E9-4879-955E-ABC80114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MODULES</a:t>
            </a:r>
          </a:p>
        </p:txBody>
      </p:sp>
      <p:sp>
        <p:nvSpPr>
          <p:cNvPr id="2" name="wide-title-7">
            <a:extLst xmlns:a="http://schemas.openxmlformats.org/drawingml/2006/main">
              <a:ext uri="{FF2B5EF4-FFF2-40B4-BE49-F238E27FC236}">
                <a16:creationId xmlns:a16="http://schemas.microsoft.com/office/drawing/2014/main" id="{F23238D9-D13C-44C1-87BA-E498C913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本地优先不等于封闭：数据和 AI 都有边界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1A738-691C-49E0-8994-FB968E9C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159DA-49E9-40BA-9214-EDDF4742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636e86d9a46c0"/>
          <a:stretch xmlns:a="http://schemas.openxmlformats.org/drawingml/2006/main"/>
        </p:blipFill>
        <p:spPr>
          <a:xfrm xmlns:a="http://schemas.openxmlformats.org/drawingml/2006/main">
            <a:off x="2861799" y="1695450"/>
            <a:ext cx="6468401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6C48B-2491-4B64-9ACA-4B8DEF16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SwiftData 失败时降级到 JSON Store；Export 读取内存 Snapshot，不直接访问数据库。</a:t>
            </a:r>
          </a:p>
        </p:txBody>
      </p:sp>
    </p:spTree>
    <p:extLst>
      <p:ext uri="{BB962C8B-B14F-4D97-AF65-F5344CB8AC3E}">
        <p14:creationId xmlns:p14="http://schemas.microsoft.com/office/powerpoint/2010/main" val="3013353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F2F07E-18D5-452A-805E-76E79A8A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ONBOARDING</a:t>
            </a:r>
          </a:p>
        </p:txBody>
      </p:sp>
      <p:sp>
        <p:nvSpPr>
          <p:cNvPr id="2" name="wide-title-8">
            <a:extLst xmlns:a="http://schemas.openxmlformats.org/drawingml/2006/main">
              <a:ext uri="{FF2B5EF4-FFF2-40B4-BE49-F238E27FC236}">
                <a16:creationId xmlns:a16="http://schemas.microsoft.com/office/drawing/2014/main" id="{026AE58B-6CBE-448B-A4FC-2C0E6793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首次设置必须落下一条真实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607F8-2E09-42B1-884B-082CF930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268E2-731A-4E23-B056-ABDB2243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e45baf8b8404a"/>
          <a:stretch xmlns:a="http://schemas.openxmlformats.org/drawingml/2006/main"/>
        </p:blipFill>
        <p:spPr>
          <a:xfrm xmlns:a="http://schemas.openxmlformats.org/drawingml/2006/main">
            <a:off x="5217841" y="1695450"/>
            <a:ext cx="1756317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131A7-8CD4-4A68-A192-399D8244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创建 1–3 个 Project 后，完成首条 Quick Log 才进入 Today。</a:t>
            </a:r>
          </a:p>
        </p:txBody>
      </p:sp>
    </p:spTree>
    <p:extLst>
      <p:ext uri="{BB962C8B-B14F-4D97-AF65-F5344CB8AC3E}">
        <p14:creationId xmlns:p14="http://schemas.microsoft.com/office/powerpoint/2010/main" val="20524495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F79C84-EAAA-4C90-A453-9AB238C1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DEMO · TODAY</a:t>
            </a:r>
          </a:p>
        </p:txBody>
      </p:sp>
      <p:sp>
        <p:nvSpPr>
          <p:cNvPr id="2" name="wide-title-9">
            <a:extLst xmlns:a="http://schemas.openxmlformats.org/drawingml/2006/main">
              <a:ext uri="{FF2B5EF4-FFF2-40B4-BE49-F238E27FC236}">
                <a16:creationId xmlns:a16="http://schemas.microsoft.com/office/drawing/2014/main" id="{C7E6A8EC-7D65-4B25-B914-FE883902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Today 直接给出可以执行的下一步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7B3EE-0FB0-494A-B41A-F653C311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EE279-BA77-4F47-8D59-56289451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85900"/>
            <a:ext cx="2667000" cy="48006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fff5a1bfc4aee"/>
          <a:stretch xmlns:a="http://schemas.openxmlformats.org/drawingml/2006/main"/>
        </p:blipFill>
        <p:spPr>
          <a:xfrm xmlns:a="http://schemas.openxmlformats.org/drawingml/2006/main">
            <a:off x="8139407" y="1619250"/>
            <a:ext cx="2085386" cy="4533900"/>
          </a:xfrm>
          <a:prstGeom xmlns:a="http://schemas.openxmlformats.org/drawingml/2006/main" prst="roundRect">
            <a:avLst>
              <a:gd name="adj" fmla="val 526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5F602-D149-4BC9-A1E8-AB8A1FDC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E2063-EA8E-4126-92AD-1D7263D0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943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42B"/>
                </a:solidFill>
              </a:defRPr>
            </a:pPr>
            <a:r>
              <a:rPr sz="2250" b="1">
                <a:solidFill>
                  <a:srgbClr val="25242B"/>
                </a:solidFill>
              </a:rPr>
              <a:t>首页不是任务清单，而是“继续学习”的最短路径。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E79F5-8E36-4A81-9FC4-2087D8E5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D8CD4C-D768-4CEE-9143-EB546D1F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仅显示 active 且有 Next Step 的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4B386-0209-42C5-9068-31628865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240E1-9E88-49ED-8A3D-63D95B2E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同时带出最近 Session 与 Proof 上下文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FCBFA1-890C-46B3-9EA8-8D41CC1F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35EF4-FBFF-4F4C-AA69-DF0A21AB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Start 与 Quick Log 服务不同记录时机</a:t>
            </a:r>
          </a:p>
        </p:txBody>
      </p:sp>
    </p:spTree>
    <p:extLst>
      <p:ext uri="{BB962C8B-B14F-4D97-AF65-F5344CB8AC3E}">
        <p14:creationId xmlns:p14="http://schemas.microsoft.com/office/powerpoint/2010/main" val="570060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5660E3-11D6-4A43-A504-94FF7E45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DEMO · SESSION</a:t>
            </a:r>
          </a:p>
        </p:txBody>
      </p:sp>
      <p:sp>
        <p:nvSpPr>
          <p:cNvPr id="2" name="wide-title-10">
            <a:extLst xmlns:a="http://schemas.openxmlformats.org/drawingml/2006/main">
              <a:ext uri="{FF2B5EF4-FFF2-40B4-BE49-F238E27FC236}">
                <a16:creationId xmlns:a16="http://schemas.microsoft.com/office/drawing/2014/main" id="{1AC64B58-6406-4440-817E-87AEFAC1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Quick Log 和 Timer 最终进入同一种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DFFAA-E118-40C3-9872-854C16A1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5C089-690D-4B7F-B09F-1AA0CB79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762500" cy="4610100"/>
          </a:xfrm>
          <a:prstGeom xmlns:a="http://schemas.openxmlformats.org/drawingml/2006/main" prst="roundRect">
            <a:avLst>
              <a:gd name="adj" fmla="val 2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97fbd2cc145e8"/>
          <a:stretch xmlns:a="http://schemas.openxmlformats.org/drawingml/2006/main"/>
        </p:blipFill>
        <p:spPr>
          <a:xfrm xmlns:a="http://schemas.openxmlformats.org/drawingml/2006/main">
            <a:off x="876300" y="1860076"/>
            <a:ext cx="1828800" cy="3976048"/>
          </a:xfrm>
          <a:prstGeom xmlns:a="http://schemas.openxmlformats.org/drawingml/2006/main" prst="roundRect">
            <a:avLst>
              <a:gd name="adj" fmla="val 6250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cbbaae0f294d23"/>
          <a:stretch xmlns:a="http://schemas.openxmlformats.org/drawingml/2006/main"/>
        </p:blipFill>
        <p:spPr>
          <a:xfrm xmlns:a="http://schemas.openxmlformats.org/drawingml/2006/main">
            <a:off x="3048000" y="1860076"/>
            <a:ext cx="1828800" cy="3976048"/>
          </a:xfrm>
          <a:prstGeom xmlns:a="http://schemas.openxmlformats.org/drawingml/2006/main" prst="roundRect">
            <a:avLst>
              <a:gd name="adj" fmla="val 625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281AD-C6A0-4FE4-8844-06796B0F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62100"/>
            <a:ext cx="5676900" cy="4610100"/>
          </a:xfrm>
          <a:prstGeom xmlns:a="http://schemas.openxmlformats.org/drawingml/2006/main" prst="roundRect">
            <a:avLst>
              <a:gd name="adj" fmla="val 2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7918653f540bf"/>
          <a:stretch xmlns:a="http://schemas.openxmlformats.org/drawingml/2006/main"/>
        </p:blipFill>
        <p:spPr>
          <a:xfrm xmlns:a="http://schemas.openxmlformats.org/drawingml/2006/main">
            <a:off x="7554060" y="1809750"/>
            <a:ext cx="2227380" cy="33909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201A46-684C-45DE-BC10-FFEC3DDD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53050"/>
            <a:ext cx="5029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57D9"/>
                </a:solidFill>
              </a:defRPr>
            </a:pPr>
            <a:r>
              <a:rPr sz="1500" b="1">
                <a:solidFill>
                  <a:srgbClr val="6657D9"/>
                </a:solidFill>
              </a:rPr>
              <a:t>同一份 Session 同时保留行动、时长、内容和 Next Step 的前后变化。</a:t>
            </a:r>
          </a:p>
        </p:txBody>
      </p:sp>
    </p:spTree>
    <p:extLst>
      <p:ext uri="{BB962C8B-B14F-4D97-AF65-F5344CB8AC3E}">
        <p14:creationId xmlns:p14="http://schemas.microsoft.com/office/powerpoint/2010/main" val="2163340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54D664-94C5-4653-9647-F0BE4F37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DEMO · TIMER</a:t>
            </a:r>
          </a:p>
        </p:txBody>
      </p:sp>
      <p:sp>
        <p:nvSpPr>
          <p:cNvPr id="2" name="wide-title-11">
            <a:extLst xmlns:a="http://schemas.openxmlformats.org/drawingml/2006/main">
              <a:ext uri="{FF2B5EF4-FFF2-40B4-BE49-F238E27FC236}">
                <a16:creationId xmlns:a16="http://schemas.microsoft.com/office/drawing/2014/main" id="{16B5800E-D78F-48F7-8A92-527E9065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Timer 只统计真正投入的活动时间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6AB65-0240-4F7F-A9FE-0113CCC4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36B8E-F47E-4678-945D-83F5C98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85900"/>
            <a:ext cx="2667000" cy="48006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1e69d728947df"/>
          <a:stretch xmlns:a="http://schemas.openxmlformats.org/drawingml/2006/main"/>
        </p:blipFill>
        <p:spPr>
          <a:xfrm xmlns:a="http://schemas.openxmlformats.org/drawingml/2006/main">
            <a:off x="8139407" y="1619250"/>
            <a:ext cx="2085386" cy="4533900"/>
          </a:xfrm>
          <a:prstGeom xmlns:a="http://schemas.openxmlformats.org/drawingml/2006/main" prst="roundRect">
            <a:avLst>
              <a:gd name="adj" fmla="val 526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0AA4A-FE27-481A-9433-055F505C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3AE54-3AC8-405C-8052-95A2E26D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943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42B"/>
                </a:solidFill>
              </a:defRPr>
            </a:pPr>
            <a:r>
              <a:rPr sz="2250" b="1">
                <a:solidFill>
                  <a:srgbClr val="25242B"/>
                </a:solidFill>
              </a:rPr>
              <a:t>暂停不累计时间，舍弃不产生 Session。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63D2C-2731-4F8F-AF11-94D822C3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0A933-7DA4-426E-9E52-12DB303B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Running、Paused 状态明确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FEB0E-7CAB-46FE-A640-48342DFD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20996-8404-448B-9436-A8FCC80D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End 后补充学习内容和新的 Next Step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8BBD8C-0872-4C76-B731-61392467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8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68EC4-355D-400D-BF0C-47EA7FF9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演示时间不足时可切换 Quick Log 完成闭环</a:t>
            </a:r>
          </a:p>
        </p:txBody>
      </p:sp>
    </p:spTree>
    <p:extLst>
      <p:ext uri="{BB962C8B-B14F-4D97-AF65-F5344CB8AC3E}">
        <p14:creationId xmlns:p14="http://schemas.microsoft.com/office/powerpoint/2010/main" val="21330810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FF6971-D065-48CC-950A-738CB4DE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PROOF</a:t>
            </a:r>
          </a:p>
        </p:txBody>
      </p:sp>
      <p:sp>
        <p:nvSpPr>
          <p:cNvPr id="2" name="wide-title-12">
            <a:extLst xmlns:a="http://schemas.openxmlformats.org/drawingml/2006/main">
              <a:ext uri="{FF2B5EF4-FFF2-40B4-BE49-F238E27FC236}">
                <a16:creationId xmlns:a16="http://schemas.microsoft.com/office/drawing/2014/main" id="{5D67D783-46E6-43F2-93A2-4385BC5D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附件只有配上解释，才成为学习证据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36399-E75C-476E-A500-A36F4F69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D3F0A-2686-4875-AC05-26D234EF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4d78d9153459f"/>
          <a:stretch xmlns:a="http://schemas.openxmlformats.org/drawingml/2006/main"/>
        </p:blipFill>
        <p:spPr>
          <a:xfrm xmlns:a="http://schemas.openxmlformats.org/drawingml/2006/main">
            <a:off x="4947479" y="1695450"/>
            <a:ext cx="2297041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0C906-6AFF-4EDB-A794-5F980079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图片、录音、文件和链接都必须补充“这证明了什么”。</a:t>
            </a:r>
          </a:p>
        </p:txBody>
      </p:sp>
    </p:spTree>
    <p:extLst>
      <p:ext uri="{BB962C8B-B14F-4D97-AF65-F5344CB8AC3E}">
        <p14:creationId xmlns:p14="http://schemas.microsoft.com/office/powerpoint/2010/main" val="12110406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1001F4-11F8-4CA5-AD4D-60E8C5FC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DEMO · PROOF</a:t>
            </a:r>
          </a:p>
        </p:txBody>
      </p:sp>
      <p:sp>
        <p:nvSpPr>
          <p:cNvPr id="2" name="wide-title-13">
            <a:extLst xmlns:a="http://schemas.openxmlformats.org/drawingml/2006/main">
              <a:ext uri="{FF2B5EF4-FFF2-40B4-BE49-F238E27FC236}">
                <a16:creationId xmlns:a16="http://schemas.microsoft.com/office/drawing/2014/main" id="{677D2C80-5570-403D-9E07-E2E3F578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Proof 同时保留内容、意义和来源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092BA-B473-40A9-9EA5-E29E8161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1EDB5-C81E-4BB4-8872-23BF27EE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04950"/>
            <a:ext cx="107823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4f46d51874727"/>
          <a:stretch xmlns:a="http://schemas.openxmlformats.org/drawingml/2006/main"/>
        </p:blipFill>
        <p:spPr>
          <a:xfrm xmlns:a="http://schemas.openxmlformats.org/drawingml/2006/main">
            <a:off x="1165581" y="1657350"/>
            <a:ext cx="2050338" cy="4457700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2ad39e2844eba"/>
          <a:stretch xmlns:a="http://schemas.openxmlformats.org/drawingml/2006/main"/>
        </p:blipFill>
        <p:spPr>
          <a:xfrm xmlns:a="http://schemas.openxmlformats.org/drawingml/2006/main">
            <a:off x="3661131" y="1657350"/>
            <a:ext cx="2050338" cy="4457700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52B588-31DB-4EF8-8FD5-DFF3747F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11837-E4CE-480C-A449-A1E3D0B9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400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42B"/>
                </a:solidFill>
              </a:defRPr>
            </a:pPr>
            <a:r>
              <a:rPr sz="2025" b="1">
                <a:solidFill>
                  <a:srgbClr val="25242B"/>
                </a:solidFill>
              </a:rPr>
              <a:t>“What does this prove?” 是证据模型的关键约束。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CA8F0-A8B3-4B54-89F9-76FDA7DD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814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7BC66-0C43-4D0C-A7A6-CBB5513A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05200"/>
            <a:ext cx="3848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42B"/>
                </a:solidFill>
              </a:defRPr>
            </a:pPr>
            <a:r>
              <a:rPr sz="1425" b="0">
                <a:solidFill>
                  <a:srgbClr val="25242B"/>
                </a:solidFill>
              </a:rPr>
              <a:t>可关联具体 Session，也可只关联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F706F-EC4C-47A7-8896-F4E51107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291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B8A23-7E3F-498B-A5D0-A11B109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52900"/>
            <a:ext cx="3848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42B"/>
                </a:solidFill>
              </a:defRPr>
            </a:pPr>
            <a:r>
              <a:rPr sz="1425" b="0">
                <a:solidFill>
                  <a:srgbClr val="25242B"/>
                </a:solidFill>
              </a:rPr>
              <a:t>Library 提供 Time、Project、Type 三种回看方式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88B74-8204-49D0-8C1F-99367EFA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768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BE4B42-3662-47AF-9B3B-771C6B5F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00600"/>
            <a:ext cx="3848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42B"/>
                </a:solidFill>
              </a:defRPr>
            </a:pPr>
            <a:r>
              <a:rPr sz="1425" b="0">
                <a:solidFill>
                  <a:srgbClr val="25242B"/>
                </a:solidFill>
              </a:rPr>
              <a:t>本地附件缺失时显示不可用，不伪造预览</a:t>
            </a:r>
          </a:p>
        </p:txBody>
      </p:sp>
    </p:spTree>
    <p:extLst>
      <p:ext uri="{BB962C8B-B14F-4D97-AF65-F5344CB8AC3E}">
        <p14:creationId xmlns:p14="http://schemas.microsoft.com/office/powerpoint/2010/main" val="18144813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7B1489-ABF4-42AD-8DC2-E38FE9AC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DEMO · TRAIL</a:t>
            </a:r>
          </a:p>
        </p:txBody>
      </p:sp>
      <p:sp>
        <p:nvSpPr>
          <p:cNvPr id="2" name="wide-title-14">
            <a:extLst xmlns:a="http://schemas.openxmlformats.org/drawingml/2006/main">
              <a:ext uri="{FF2B5EF4-FFF2-40B4-BE49-F238E27FC236}">
                <a16:creationId xmlns:a16="http://schemas.microsoft.com/office/drawing/2014/main" id="{1E435EA7-69B0-4CD3-8DA8-A3E36634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Project Detail 把行动、证据和状态放在一起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A5F67-C6EB-4539-B2E6-0C9E16EC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216A0-A205-42F9-8268-1D69B6E8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85900"/>
            <a:ext cx="2667000" cy="48006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a636123994bc4"/>
          <a:stretch xmlns:a="http://schemas.openxmlformats.org/drawingml/2006/main"/>
        </p:blipFill>
        <p:spPr>
          <a:xfrm xmlns:a="http://schemas.openxmlformats.org/drawingml/2006/main">
            <a:off x="8139407" y="1619250"/>
            <a:ext cx="2085386" cy="4533900"/>
          </a:xfrm>
          <a:prstGeom xmlns:a="http://schemas.openxmlformats.org/drawingml/2006/main" prst="roundRect">
            <a:avLst>
              <a:gd name="adj" fmla="val 526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C154B-E0F6-40A1-8377-E6489046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0FD0C-946B-4861-93E3-1625C1A3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943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42B"/>
                </a:solidFill>
              </a:defRPr>
            </a:pPr>
            <a:r>
              <a:rPr sz="2250" b="1">
                <a:solidFill>
                  <a:srgbClr val="25242B"/>
                </a:solidFill>
              </a:rPr>
              <a:t>Trail 的价值不在“完成了多少”，而在“项目如何变化”。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3AB37-4F89-481F-A3EA-BC9D67F0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D5385-667C-455F-8B3C-D902A5E0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Goal、Next Step、Actions 和 Status 共处一页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B22D5-14AC-48F6-8816-EF8FF85D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7B091-F356-435C-92F9-F0041AD2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Sessions、Proofs、Reviews 与 Trail 使用同一 Project 上下文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CAEF1-57A2-46EA-89BC-BAE3E710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FDC38B-2878-4042-83E6-C7E9A91E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1965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完整 Trail 结构由产品流程图维护</a:t>
            </a:r>
          </a:p>
        </p:txBody>
      </p:sp>
    </p:spTree>
    <p:extLst>
      <p:ext uri="{BB962C8B-B14F-4D97-AF65-F5344CB8AC3E}">
        <p14:creationId xmlns:p14="http://schemas.microsoft.com/office/powerpoint/2010/main" val="1099620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EAAF54-1CFC-4A98-BF65-6729F6D1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REVIEW</a:t>
            </a:r>
          </a:p>
        </p:txBody>
      </p:sp>
      <p:sp>
        <p:nvSpPr>
          <p:cNvPr id="2" name="wide-title-15">
            <a:extLst xmlns:a="http://schemas.openxmlformats.org/drawingml/2006/main">
              <a:ext uri="{FF2B5EF4-FFF2-40B4-BE49-F238E27FC236}">
                <a16:creationId xmlns:a16="http://schemas.microsoft.com/office/drawing/2014/main" id="{650508AF-6301-4C28-961C-50EC8124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Review 先保存判断，再由用户应用建议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F26EB-2074-4542-8C10-3A30B5AD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F96E1-BF43-44A9-BB0F-090E86B6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72390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cf5f8d1ab4175"/>
          <a:stretch xmlns:a="http://schemas.openxmlformats.org/drawingml/2006/main"/>
        </p:blipFill>
        <p:spPr>
          <a:xfrm xmlns:a="http://schemas.openxmlformats.org/drawingml/2006/main">
            <a:off x="3395074" y="1695450"/>
            <a:ext cx="1820451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7A0F5-3575-4975-BCE2-B3DAC336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04950"/>
            <a:ext cx="2476500" cy="4762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464fa670f405c"/>
          <a:stretch xmlns:a="http://schemas.openxmlformats.org/drawingml/2006/main"/>
        </p:blipFill>
        <p:spPr>
          <a:xfrm xmlns:a="http://schemas.openxmlformats.org/drawingml/2006/main">
            <a:off x="8518881" y="1657350"/>
            <a:ext cx="2050338" cy="4457700"/>
          </a:xfrm>
          <a:prstGeom xmlns:a="http://schemas.openxmlformats.org/drawingml/2006/main" prst="roundRect">
            <a:avLst>
              <a:gd name="adj" fmla="val 5455"/>
            </a:avLst>
          </a:prstGeom>
        </p:spPr>
      </p:pic>
    </p:spTree>
    <p:extLst>
      <p:ext uri="{BB962C8B-B14F-4D97-AF65-F5344CB8AC3E}">
        <p14:creationId xmlns:p14="http://schemas.microsoft.com/office/powerpoint/2010/main" val="19584684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500EFC-EFC8-49DA-9969-AB10EFA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AI FALLBACK</a:t>
            </a:r>
          </a:p>
        </p:txBody>
      </p:sp>
      <p:sp>
        <p:nvSpPr>
          <p:cNvPr id="2" name="wide-title-16">
            <a:extLst xmlns:a="http://schemas.openxmlformats.org/drawingml/2006/main">
              <a:ext uri="{FF2B5EF4-FFF2-40B4-BE49-F238E27FC236}">
                <a16:creationId xmlns:a16="http://schemas.microsoft.com/office/drawing/2014/main" id="{0C68B272-8898-45E2-B9ED-19DB62D9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AI 不可用时，Review 仍然可以完成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4F326-2834-4F3F-93EB-6D0D7033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48D81-9190-40C5-85B8-AB7A7506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7a4bd634b4b45"/>
          <a:stretch xmlns:a="http://schemas.openxmlformats.org/drawingml/2006/main"/>
        </p:blipFill>
        <p:spPr>
          <a:xfrm xmlns:a="http://schemas.openxmlformats.org/drawingml/2006/main">
            <a:off x="5380314" y="1695450"/>
            <a:ext cx="1431372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794297-4D73-49FA-8D96-1002B792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未配置、请求失败或解析失败都会回到本地证据规则，结果仍可编辑。</a:t>
            </a:r>
          </a:p>
        </p:txBody>
      </p:sp>
    </p:spTree>
    <p:extLst>
      <p:ext uri="{BB962C8B-B14F-4D97-AF65-F5344CB8AC3E}">
        <p14:creationId xmlns:p14="http://schemas.microsoft.com/office/powerpoint/2010/main" val="21394929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D503E5-A991-4213-9D2D-9C6EEDE1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LIBRARY &amp; EXPORT</a:t>
            </a:r>
          </a:p>
        </p:txBody>
      </p:sp>
      <p:sp>
        <p:nvSpPr>
          <p:cNvPr id="2" name="wide-title-17">
            <a:extLst xmlns:a="http://schemas.openxmlformats.org/drawingml/2006/main">
              <a:ext uri="{FF2B5EF4-FFF2-40B4-BE49-F238E27FC236}">
                <a16:creationId xmlns:a16="http://schemas.microsoft.com/office/drawing/2014/main" id="{1F1842A8-FA2C-48BA-AAFF-83D9FC66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Library 负责回看证据，Export 负责把数据带走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D844A-0246-4EB1-8AB1-C22E8832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966A5-84BD-45ED-AAAC-4B7BB9F9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3124200" cy="476250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b02fd8d1e4b4d"/>
          <a:stretch xmlns:a="http://schemas.openxmlformats.org/drawingml/2006/main"/>
        </p:blipFill>
        <p:spPr>
          <a:xfrm xmlns:a="http://schemas.openxmlformats.org/drawingml/2006/main">
            <a:off x="1222731" y="1657350"/>
            <a:ext cx="2050338" cy="4457700"/>
          </a:xfrm>
          <a:prstGeom xmlns:a="http://schemas.openxmlformats.org/drawingml/2006/main" prst="roundRect">
            <a:avLst>
              <a:gd name="adj" fmla="val 4412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6D8EB-BF0F-4503-803C-E7D54CAA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504950"/>
            <a:ext cx="733425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f7e2260f4ccf"/>
          <a:stretch xmlns:a="http://schemas.openxmlformats.org/drawingml/2006/main"/>
        </p:blipFill>
        <p:spPr>
          <a:xfrm xmlns:a="http://schemas.openxmlformats.org/drawingml/2006/main">
            <a:off x="6561348" y="1771650"/>
            <a:ext cx="2555454" cy="3619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88F3D-E008-4C3F-97C4-E375B1C5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7350"/>
            <a:ext cx="664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57D9"/>
                </a:solidFill>
              </a:defRPr>
            </a:pPr>
            <a:r>
              <a:rPr sz="1500" b="1">
                <a:solidFill>
                  <a:srgbClr val="6657D9"/>
                </a:solidFill>
              </a:rPr>
              <a:t>一次 Export 生成版本化 journal.json 与附件目录；失败不修改原始数据。</a:t>
            </a:r>
          </a:p>
        </p:txBody>
      </p:sp>
    </p:spTree>
    <p:extLst>
      <p:ext uri="{BB962C8B-B14F-4D97-AF65-F5344CB8AC3E}">
        <p14:creationId xmlns:p14="http://schemas.microsoft.com/office/powerpoint/2010/main" val="159957856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DCFC3A-748D-4ECD-A2E8-BE17A1B3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5–10 MIN DEMO</a:t>
            </a:r>
          </a:p>
        </p:txBody>
      </p:sp>
      <p:sp>
        <p:nvSpPr>
          <p:cNvPr id="2" name="wide-title-18">
            <a:extLst xmlns:a="http://schemas.openxmlformats.org/drawingml/2006/main">
              <a:ext uri="{FF2B5EF4-FFF2-40B4-BE49-F238E27FC236}">
                <a16:creationId xmlns:a16="http://schemas.microsoft.com/office/drawing/2014/main" id="{5EDFB217-2830-48D5-ABC1-7D468D43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一条 CS336 故事可以讲完完整产品闭环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09D73-ED17-4374-B810-8C74BB9A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88392-5983-4809-AA2F-E846287E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7625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d8ea7a5214953"/>
          <a:stretch xmlns:a="http://schemas.openxmlformats.org/drawingml/2006/main"/>
        </p:blipFill>
        <p:spPr>
          <a:xfrm xmlns:a="http://schemas.openxmlformats.org/drawingml/2006/main">
            <a:off x="933450" y="3390301"/>
            <a:ext cx="10325100" cy="61079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7CA4B-F897-4169-9AC0-87C94786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29300"/>
            <a:ext cx="1032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Today → Timer/Quick Log → Proof → Trail → Weekly Review。</a:t>
            </a:r>
          </a:p>
        </p:txBody>
      </p:sp>
    </p:spTree>
    <p:extLst>
      <p:ext uri="{BB962C8B-B14F-4D97-AF65-F5344CB8AC3E}">
        <p14:creationId xmlns:p14="http://schemas.microsoft.com/office/powerpoint/2010/main" val="2817711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F82E9B-F197-47FB-8DBF-72B0AFC5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STATUS</a:t>
            </a:r>
          </a:p>
        </p:txBody>
      </p:sp>
      <p:sp>
        <p:nvSpPr>
          <p:cNvPr id="2" name="wide-title-19">
            <a:extLst xmlns:a="http://schemas.openxmlformats.org/drawingml/2006/main">
              <a:ext uri="{FF2B5EF4-FFF2-40B4-BE49-F238E27FC236}">
                <a16:creationId xmlns:a16="http://schemas.microsoft.com/office/drawing/2014/main" id="{3717D4E4-B6BD-4EE0-B4FA-55D23485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v0.1 闭环可运行，规划能力不冒充已实现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2DF0C-5020-4948-9E5B-9A746A56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7EB33-9D43-4ECD-8039-0CAF476E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92451-7708-4798-A779-0BF01AC1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B2DAD-1131-44EC-9AC4-9E0E2278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866B"/>
                </a:solidFill>
              </a:defRPr>
            </a:pPr>
            <a:r>
              <a:rPr sz="1200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14172-D444-441F-A48D-8B1ABDD1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695450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Today Continue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265EE-64FF-4A15-ACAE-2734ED94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95450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显示可继续项目、Next Step、最近 Session 与 Proof。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46F2C-1B94-457B-90EC-B262A04E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12521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E83941-B3A4-4FBB-B16A-CD76F297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6821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0C97F-9C0D-4F69-97FB-5470FDFD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5871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866B"/>
                </a:solidFill>
              </a:defRPr>
            </a:pPr>
            <a:r>
              <a:rPr sz="1200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42D65-7790-4B4E-B6D7-A7FB00B2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45871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Quick Log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F84DE-28C2-4BDF-97FF-3C3E0752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5871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用预设或自定义时长补记 Session，并可更新 Next Step。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2335E-D22D-443B-9645-86D756EE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2943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876277-0240-4698-9BF8-90C816C2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7243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75066-692C-462B-BE14-132ACDD9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6293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866B"/>
                </a:solidFill>
              </a:defRPr>
            </a:pPr>
            <a:r>
              <a:rPr sz="1200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4BE30-8D7F-4CA3-B228-D8CD9CC8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996293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Timer Session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D61E-BE1A-4836-AA89-AD3F77F0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96293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开始、暂停、继续、结束或舍弃现场学习计时。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DCADAA-082F-4400-9DB4-84C7FCA6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3364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F8E9ED-EDDA-4D1F-8567-27ECCBCE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27664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BD8F88-61EF-4C0F-A482-F7A467E6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6714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866B"/>
                </a:solidFill>
              </a:defRPr>
            </a:pPr>
            <a:r>
              <a:rPr sz="1200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3C7891-41B7-47BA-9895-FB091E67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46714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FEA420-61B1-4982-B34D-D3891EF8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46714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添加图片、录音、文件或链接，并查看对应预览。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72306-C7DB-4C69-8DA6-88EF11E0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63786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CBED2-458E-46DD-9C12-D26591A2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78086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0082C4-7F4C-4EBA-9324-7A26645E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136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866B"/>
                </a:solidFill>
              </a:defRPr>
            </a:pPr>
            <a:r>
              <a:rPr sz="1200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8E33BB-01B8-4BC2-B2E4-6734A72B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97136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Weekly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47EF9E-CF62-499E-BB23-39EA3E42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97136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生成、编辑并保存 Facts、Patterns、Decisions 和 Next Steps。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697BA5-13C3-4EB8-BC69-A539C924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4207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D3830-3019-4A04-B0C6-5D072BE2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28507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F6E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022D23-FEFB-4B2E-86B1-97F377AF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47557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77932"/>
                </a:solidFill>
              </a:defRPr>
            </a:pPr>
            <a:r>
              <a:rPr sz="1200" b="1">
                <a:solidFill>
                  <a:srgbClr val="C77932"/>
                </a:solidFill>
              </a:rPr>
              <a:t>部分实现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87F79E-18C1-4C8A-9BC7-CF00E111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47557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OpenAI-compatible Review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347BD7-2615-42E9-8B4E-276118EE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47557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配置 Endpoint、Model 与 API Key 后调用 Chat Completions。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E40AAE-F1AF-4CB2-A723-A8D7F7B1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64629"/>
            <a:ext cx="10782300" cy="574221"/>
          </a:xfrm>
          <a:prstGeom xmlns:a="http://schemas.openxmlformats.org/drawingml/2006/main" prst="roundRect">
            <a:avLst>
              <a:gd name="adj" fmla="val 19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FA3882-1EC5-4565-A304-9D77D2DE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78929"/>
            <a:ext cx="990600" cy="345621"/>
          </a:xfrm>
          <a:prstGeom xmlns:a="http://schemas.openxmlformats.org/drawingml/2006/main" prst="roundRect">
            <a:avLst>
              <a:gd name="adj" fmla="val 33071"/>
            </a:avLst>
          </a:prstGeom>
          <a:solidFill xmlns:a="http://schemas.openxmlformats.org/drawingml/2006/main">
            <a:srgbClr val="E7E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917808-1FC8-4816-AB9F-4E117D01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97979"/>
            <a:ext cx="876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已设计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A027D3-1944-461F-B299-977F07DF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597979"/>
            <a:ext cx="24765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242B"/>
                </a:solidFill>
              </a:defRPr>
            </a:pPr>
            <a:r>
              <a:rPr sz="1275" b="1">
                <a:solidFill>
                  <a:srgbClr val="25242B"/>
                </a:solidFill>
              </a:rPr>
              <a:t>CloudKit/iCloud 私有同步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E534C1-CA21-4857-9872-AD0A5509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597979"/>
            <a:ext cx="6591300" cy="30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当前 App 不显示同步入口。</a:t>
            </a:r>
          </a:p>
        </p:txBody>
      </p:sp>
    </p:spTree>
    <p:extLst>
      <p:ext uri="{BB962C8B-B14F-4D97-AF65-F5344CB8AC3E}">
        <p14:creationId xmlns:p14="http://schemas.microsoft.com/office/powerpoint/2010/main" val="5620188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260F53-57AC-4B35-B994-A5A3AF53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CLOSE</a:t>
            </a:r>
          </a:p>
        </p:txBody>
      </p:sp>
      <p:sp>
        <p:nvSpPr>
          <p:cNvPr id="2" name="wide-title-20">
            <a:extLst xmlns:a="http://schemas.openxmlformats.org/drawingml/2006/main">
              <a:ext uri="{FF2B5EF4-FFF2-40B4-BE49-F238E27FC236}">
                <a16:creationId xmlns:a16="http://schemas.microsoft.com/office/drawing/2014/main" id="{7D97D9F7-431A-4A4A-9A0C-5C038D55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242B"/>
                </a:solidFill>
              </a:defRPr>
            </a:pPr>
            <a:r>
              <a:rPr sz="3000" b="1">
                <a:solidFill>
                  <a:srgbClr val="25242B"/>
                </a:solidFill>
              </a:rPr>
              <a:t>让每次学习都留下一个可以继续的方向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82E08-9BAC-4265-B513-27A540E7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C76"/>
                </a:solidFill>
              </a:defRPr>
            </a:pPr>
            <a:r>
              <a:rPr sz="1050" b="0">
                <a:solidFill>
                  <a:srgbClr val="6F6C76"/>
                </a:solidFill>
              </a:rPr>
              <a:t>SELF STUDY STUDIO  ·  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BA3EA-6D01-40DA-BF89-880D692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0250"/>
            <a:ext cx="571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5E881-9F72-4935-B643-274EE8C8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00250"/>
            <a:ext cx="923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242B"/>
                </a:solidFill>
              </a:defRPr>
            </a:pPr>
            <a:r>
              <a:rPr sz="2850" b="1">
                <a:solidFill>
                  <a:srgbClr val="25242B"/>
                </a:solidFill>
              </a:rPr>
              <a:t>Project → Session → Proof → Review →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E74EF-8817-4494-8E8C-4A2A9D66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29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657D9"/>
                </a:solidFill>
              </a:defRPr>
            </a:pPr>
            <a:r>
              <a:rPr sz="1950" b="1">
                <a:solidFill>
                  <a:srgbClr val="6657D9"/>
                </a:solidFill>
              </a:rPr>
              <a:t>维护规则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CF592-79F0-497D-8087-A5E878A1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BEC49-0C38-4183-8244-54A29F0C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00500"/>
            <a:ext cx="832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产品事实先更新 Markdown 手册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76131-8B43-44C5-82EF-C5E590FD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148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A1F5B-370F-420B-A2CC-710077DD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38650"/>
            <a:ext cx="832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导航和规则变化同步更新 Mermaid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AB369A-02AA-4434-8349-0A86F2B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7F3C92-C077-478F-92D9-67F6D313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76800"/>
            <a:ext cx="832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界面变化重新采集真实 Simulator 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92AC2-9789-414A-9946-56AFCA80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91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2AFC9-D8DF-43BB-A993-3840F30D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32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42B"/>
                </a:solidFill>
              </a:defRPr>
            </a:pPr>
            <a:r>
              <a:rPr sz="1575" b="0">
                <a:solidFill>
                  <a:srgbClr val="25242B"/>
                </a:solidFill>
              </a:rPr>
              <a:t>重新生成 PPTX 与 A4 PDF，并逐页检查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847B2-F9B2-4117-A535-4D1C1DF2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6C76"/>
                </a:solidFill>
              </a:defRPr>
            </a:pPr>
            <a:r>
              <a:rPr sz="1200" b="0">
                <a:solidFill>
                  <a:srgbClr val="6F6C76"/>
                </a:solidFill>
              </a:rPr>
              <a:t>50 tests executed, 49 passed, 1 known assertion failure · commit a6c707e</a:t>
            </a:r>
          </a:p>
        </p:txBody>
      </p:sp>
    </p:spTree>
    <p:extLst>
      <p:ext uri="{BB962C8B-B14F-4D97-AF65-F5344CB8AC3E}">
        <p14:creationId xmlns:p14="http://schemas.microsoft.com/office/powerpoint/2010/main" val="184798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2026-07-14T06:20:09.7470000Z</dcterms:created>
  <dcterms:modified xsi:type="dcterms:W3CDTF">2026-07-14T06:20:09.7470000Z</dcterms:modified>
</coreProperties>
</file>